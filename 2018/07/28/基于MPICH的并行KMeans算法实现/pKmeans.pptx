
<file path=[Content_Types].xml><?xml version="1.0" encoding="utf-8"?>
<Types xmlns="http://schemas.openxmlformats.org/package/2006/content-types">
  <Default Extension="jpeg" ContentType="image/jpeg"/>
  <Default Extension="xlsx" ContentType="application/vnd.openxmlformats-officedocument.spreadsheetml.sheet"/>
  <Default Extension="png" ContentType="image/png"/>
  <Default Extension="tiff" ContentType="image/tif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theme/themeOverride13.xml" ContentType="application/vnd.openxmlformats-officedocument.themeOverride+xml"/>
  <Override PartName="/ppt/theme/themeOverride14.xml" ContentType="application/vnd.openxmlformats-officedocument.themeOverride+xml"/>
  <Override PartName="/ppt/theme/themeOverride15.xml" ContentType="application/vnd.openxmlformats-officedocument.themeOverride+xml"/>
  <Override PartName="/ppt/theme/themeOverride16.xml" ContentType="application/vnd.openxmlformats-officedocument.themeOverride+xml"/>
  <Override PartName="/ppt/theme/themeOverride17.xml" ContentType="application/vnd.openxmlformats-officedocument.themeOverride+xml"/>
  <Override PartName="/ppt/theme/themeOverride18.xml" ContentType="application/vnd.openxmlformats-officedocument.themeOverride+xml"/>
  <Override PartName="/ppt/theme/themeOverride19.xml" ContentType="application/vnd.openxmlformats-officedocument.themeOverride+xml"/>
  <Override PartName="/ppt/theme/themeOverride2.xml" ContentType="application/vnd.openxmlformats-officedocument.themeOverride+xml"/>
  <Override PartName="/ppt/theme/themeOverride20.xml" ContentType="application/vnd.openxmlformats-officedocument.themeOverride+xml"/>
  <Override PartName="/ppt/theme/themeOverride21.xml" ContentType="application/vnd.openxmlformats-officedocument.themeOverride+xml"/>
  <Override PartName="/ppt/theme/themeOverride2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8"/>
  </p:handoutMasterIdLst>
  <p:sldIdLst>
    <p:sldId id="451" r:id="rId3"/>
    <p:sldId id="385" r:id="rId5"/>
    <p:sldId id="322" r:id="rId6"/>
    <p:sldId id="425" r:id="rId7"/>
    <p:sldId id="453" r:id="rId8"/>
    <p:sldId id="454" r:id="rId9"/>
    <p:sldId id="455" r:id="rId10"/>
    <p:sldId id="459" r:id="rId11"/>
    <p:sldId id="456" r:id="rId12"/>
    <p:sldId id="460" r:id="rId13"/>
    <p:sldId id="461" r:id="rId14"/>
    <p:sldId id="473" r:id="rId15"/>
    <p:sldId id="457" r:id="rId16"/>
    <p:sldId id="462" r:id="rId17"/>
    <p:sldId id="463" r:id="rId18"/>
    <p:sldId id="464" r:id="rId19"/>
    <p:sldId id="465" r:id="rId20"/>
    <p:sldId id="466" r:id="rId21"/>
    <p:sldId id="458" r:id="rId22"/>
    <p:sldId id="468" r:id="rId23"/>
    <p:sldId id="469" r:id="rId24"/>
    <p:sldId id="472" r:id="rId25"/>
    <p:sldId id="471" r:id="rId26"/>
    <p:sldId id="452" r:id="rId27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  <p:clrMru>
    <a:srgbClr val="005A9E"/>
    <a:srgbClr val="0070C0"/>
    <a:srgbClr val="595959"/>
    <a:srgbClr val="008AF2"/>
    <a:srgbClr val="007DDA"/>
    <a:srgbClr val="22A5FE"/>
    <a:srgbClr val="26D7FA"/>
    <a:srgbClr val="7DF32D"/>
    <a:srgbClr val="22F9FE"/>
    <a:srgbClr val="7097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935" autoAdjust="0"/>
    <p:restoredTop sz="94660" autoAdjust="0"/>
  </p:normalViewPr>
  <p:slideViewPr>
    <p:cSldViewPr>
      <p:cViewPr varScale="1">
        <p:scale>
          <a:sx n="117" d="100"/>
          <a:sy n="117" d="100"/>
        </p:scale>
        <p:origin x="638" y="86"/>
      </p:cViewPr>
      <p:guideLst>
        <p:guide pos="2902"/>
        <p:guide orient="horz" pos="16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6" d="100"/>
          <a:sy n="86" d="100"/>
        </p:scale>
        <p:origin x="-3810" y="-90"/>
      </p:cViewPr>
      <p:guideLst>
        <p:guide orient="horz" pos="2880"/>
        <p:guide pos="217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handoutMaster" Target="handoutMasters/handoutMaster1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>
              <a:defRPr sz="213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dirty="0" smtClean="0"/>
              <a:t>运行时间 </a:t>
            </a:r>
            <a:r>
              <a:rPr lang="x-none" altLang="zh-CN" dirty="0" smtClean="0"/>
              <a:t>/s</a:t>
            </a:r>
            <a:endParaRPr lang="x-none" altLang="zh-CN" dirty="0" smtClean="0"/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1000</c:v>
                </c:pt>
              </c:strCache>
            </c:strRef>
          </c:tx>
          <c:spPr>
            <a:ln w="34925" cap="rnd">
              <a:solidFill>
                <a:schemeClr val="accent3">
                  <a:tint val="50000"/>
                </a:schemeClr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marker>
            <c:symbol val="none"/>
          </c:marker>
          <c:cat>
            <c:numRef>
              <c:f>Sheet1!$A$2:$A$10</c:f>
              <c:numCache>
                <c:formatCode>General</c:formatCode>
                <c:ptCount val="9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 c:formatCode="General">
                  <c:v>2.5675</c:v>
                </c:pt>
                <c:pt idx="1" c:formatCode="General">
                  <c:v>1.99383</c:v>
                </c:pt>
                <c:pt idx="2" c:formatCode="General">
                  <c:v>1.31266</c:v>
                </c:pt>
                <c:pt idx="3" c:formatCode="General">
                  <c:v>1.11856</c:v>
                </c:pt>
                <c:pt idx="4" c:formatCode="General">
                  <c:v>0.98055</c:v>
                </c:pt>
                <c:pt idx="5" c:formatCode="General">
                  <c:v>1.30102</c:v>
                </c:pt>
                <c:pt idx="6" c:formatCode="General">
                  <c:v>1.44554</c:v>
                </c:pt>
                <c:pt idx="7" c:formatCode="General">
                  <c:v>1.36986</c:v>
                </c:pt>
                <c:pt idx="8" c:formatCode="General">
                  <c:v>1.3629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2000</c:v>
                </c:pt>
              </c:strCache>
            </c:strRef>
          </c:tx>
          <c:spPr>
            <a:ln w="34925" cap="rnd">
              <a:solidFill>
                <a:schemeClr val="accent3">
                  <a:tint val="70000"/>
                </a:schemeClr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marker>
            <c:symbol val="none"/>
          </c:marker>
          <c:cat>
            <c:numRef>
              <c:f>Sheet1!$A$2:$A$10</c:f>
              <c:numCache>
                <c:formatCode>General</c:formatCode>
                <c:ptCount val="9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</c:numCache>
            </c:numRef>
          </c:cat>
          <c:val>
            <c:numRef>
              <c:f>Sheet1!$C$2:$C$10</c:f>
              <c:numCache>
                <c:formatCode>General</c:formatCode>
                <c:ptCount val="9"/>
                <c:pt idx="0" c:formatCode="General">
                  <c:v>9.9443</c:v>
                </c:pt>
                <c:pt idx="1" c:formatCode="General">
                  <c:v>7.83643</c:v>
                </c:pt>
                <c:pt idx="2" c:formatCode="General">
                  <c:v>5.33841</c:v>
                </c:pt>
                <c:pt idx="3" c:formatCode="General">
                  <c:v>4.35496</c:v>
                </c:pt>
                <c:pt idx="4" c:formatCode="General">
                  <c:v>3.97673</c:v>
                </c:pt>
                <c:pt idx="5" c:formatCode="General">
                  <c:v>4.70954</c:v>
                </c:pt>
                <c:pt idx="6" c:formatCode="General">
                  <c:v>5.66559</c:v>
                </c:pt>
                <c:pt idx="7" c:formatCode="General">
                  <c:v>5.41977</c:v>
                </c:pt>
                <c:pt idx="8" c:formatCode="General">
                  <c:v>5.28056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3000</c:v>
                </c:pt>
              </c:strCache>
            </c:strRef>
          </c:tx>
          <c:spPr>
            <a:ln w="34925" cap="rnd">
              <a:solidFill>
                <a:schemeClr val="accent3">
                  <a:tint val="90000"/>
                </a:schemeClr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marker>
            <c:symbol val="none"/>
          </c:marker>
          <c:cat>
            <c:numRef>
              <c:f>Sheet1!$A$2:$A$10</c:f>
              <c:numCache>
                <c:formatCode>General</c:formatCode>
                <c:ptCount val="9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</c:numCache>
            </c:numRef>
          </c:cat>
          <c:val>
            <c:numRef>
              <c:f>Sheet1!$D$2:$D$10</c:f>
              <c:numCache>
                <c:formatCode>General</c:formatCode>
                <c:ptCount val="9"/>
                <c:pt idx="0" c:formatCode="General">
                  <c:v>21.7123</c:v>
                </c:pt>
                <c:pt idx="1" c:formatCode="General">
                  <c:v>17.451</c:v>
                </c:pt>
                <c:pt idx="2" c:formatCode="General">
                  <c:v>11.6433</c:v>
                </c:pt>
                <c:pt idx="3" c:formatCode="General">
                  <c:v>9.60615</c:v>
                </c:pt>
                <c:pt idx="4" c:formatCode="General">
                  <c:v>8.69855</c:v>
                </c:pt>
                <c:pt idx="5" c:formatCode="General">
                  <c:v>12.8567</c:v>
                </c:pt>
                <c:pt idx="6" c:formatCode="General">
                  <c:v>10.694</c:v>
                </c:pt>
                <c:pt idx="7" c:formatCode="General">
                  <c:v>12.1697</c:v>
                </c:pt>
                <c:pt idx="8" c:formatCode="General">
                  <c:v>13.9239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4000</c:v>
                </c:pt>
              </c:strCache>
            </c:strRef>
          </c:tx>
          <c:spPr>
            <a:ln w="34925" cap="rnd">
              <a:solidFill>
                <a:schemeClr val="accent3">
                  <a:shade val="90000"/>
                </a:schemeClr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marker>
            <c:symbol val="none"/>
          </c:marker>
          <c:cat>
            <c:numRef>
              <c:f>Sheet1!$A$2:$A$10</c:f>
              <c:numCache>
                <c:formatCode>General</c:formatCode>
                <c:ptCount val="9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</c:numCache>
            </c:numRef>
          </c:cat>
          <c:val>
            <c:numRef>
              <c:f>Sheet1!$E$2:$E$10</c:f>
              <c:numCache>
                <c:formatCode>General</c:formatCode>
                <c:ptCount val="9"/>
                <c:pt idx="0" c:formatCode="General">
                  <c:v>39.5589</c:v>
                </c:pt>
                <c:pt idx="1" c:formatCode="General">
                  <c:v>31.7131</c:v>
                </c:pt>
                <c:pt idx="2" c:formatCode="General">
                  <c:v>20.5709</c:v>
                </c:pt>
                <c:pt idx="3" c:formatCode="General">
                  <c:v>17.1378</c:v>
                </c:pt>
                <c:pt idx="4" c:formatCode="General">
                  <c:v>15.6445</c:v>
                </c:pt>
                <c:pt idx="5" c:formatCode="General">
                  <c:v>24.0584</c:v>
                </c:pt>
                <c:pt idx="6" c:formatCode="General">
                  <c:v>17.8704</c:v>
                </c:pt>
                <c:pt idx="7" c:formatCode="General">
                  <c:v>21.9986</c:v>
                </c:pt>
                <c:pt idx="8" c:formatCode="General">
                  <c:v>20.865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5000</c:v>
                </c:pt>
              </c:strCache>
            </c:strRef>
          </c:tx>
          <c:spPr>
            <a:ln w="34925" cap="rnd">
              <a:solidFill>
                <a:schemeClr val="accent3">
                  <a:shade val="70000"/>
                </a:schemeClr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marker>
            <c:symbol val="none"/>
          </c:marker>
          <c:cat>
            <c:numRef>
              <c:f>Sheet1!$A$2:$A$10</c:f>
              <c:numCache>
                <c:formatCode>General</c:formatCode>
                <c:ptCount val="9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</c:numCache>
            </c:numRef>
          </c:cat>
          <c:val>
            <c:numRef>
              <c:f>Sheet1!$F$2:$F$10</c:f>
              <c:numCache>
                <c:formatCode>General</c:formatCode>
                <c:ptCount val="9"/>
                <c:pt idx="0" c:formatCode="General">
                  <c:v>60.6252</c:v>
                </c:pt>
                <c:pt idx="1" c:formatCode="General">
                  <c:v>49.981</c:v>
                </c:pt>
                <c:pt idx="2" c:formatCode="General">
                  <c:v>32.8354</c:v>
                </c:pt>
                <c:pt idx="3" c:formatCode="General">
                  <c:v>27.2561</c:v>
                </c:pt>
                <c:pt idx="4" c:formatCode="General">
                  <c:v>24.2138</c:v>
                </c:pt>
                <c:pt idx="5" c:formatCode="General">
                  <c:v>38.3714</c:v>
                </c:pt>
                <c:pt idx="6" c:formatCode="General">
                  <c:v>26.0972</c:v>
                </c:pt>
                <c:pt idx="7" c:formatCode="General">
                  <c:v>34.3487</c:v>
                </c:pt>
                <c:pt idx="8" c:formatCode="General">
                  <c:v>34.0171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6000</c:v>
                </c:pt>
              </c:strCache>
            </c:strRef>
          </c:tx>
          <c:spPr>
            <a:ln w="34925" cap="rnd">
              <a:solidFill>
                <a:schemeClr val="accent3">
                  <a:shade val="50000"/>
                </a:schemeClr>
              </a:solidFill>
              <a:round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c:spPr>
          <c:marker>
            <c:symbol val="none"/>
          </c:marker>
          <c:cat>
            <c:numRef>
              <c:f>Sheet1!$A$2:$A$10</c:f>
              <c:numCache>
                <c:formatCode>General</c:formatCode>
                <c:ptCount val="9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</c:numCache>
            </c:numRef>
          </c:cat>
          <c:val>
            <c:numRef>
              <c:f>Sheet1!$G$2:$G$10</c:f>
              <c:numCache>
                <c:formatCode>General</c:formatCode>
                <c:ptCount val="9"/>
                <c:pt idx="0" c:formatCode="General">
                  <c:v>86.1279</c:v>
                </c:pt>
                <c:pt idx="1" c:formatCode="General">
                  <c:v>70.4022</c:v>
                </c:pt>
                <c:pt idx="2" c:formatCode="General">
                  <c:v>45.8858</c:v>
                </c:pt>
                <c:pt idx="3" c:formatCode="General">
                  <c:v>38.2198</c:v>
                </c:pt>
                <c:pt idx="4" c:formatCode="General">
                  <c:v>34.4403</c:v>
                </c:pt>
                <c:pt idx="5" c:formatCode="General">
                  <c:v>43.4743</c:v>
                </c:pt>
                <c:pt idx="6" c:formatCode="General">
                  <c:v>52.8348</c:v>
                </c:pt>
                <c:pt idx="7" c:formatCode="General">
                  <c:v>49.1497</c:v>
                </c:pt>
                <c:pt idx="8" c:formatCode="General">
                  <c:v>48.5215</c:v>
                </c:pt>
              </c:numCache>
            </c:numRef>
          </c:val>
          <c:smooth val="0"/>
        </c:ser>
        <c:dLbls>
          <c:dLblPos val="r"/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1237321424"/>
        <c:axId val="1237315440"/>
      </c:lineChart>
      <c:catAx>
        <c:axId val="12373214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horzOverflow="overflow" vert="horz" wrap="square" anchor="ctr" anchorCtr="1"/>
          <a:lstStyle/>
          <a:p>
            <a:pPr>
              <a:defRPr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237315440"/>
        <c:crosses val="autoZero"/>
        <c:auto val="1"/>
        <c:lblAlgn val="ctr"/>
        <c:lblOffset val="100"/>
        <c:tickMarkSkip val="1"/>
        <c:noMultiLvlLbl val="0"/>
      </c:catAx>
      <c:valAx>
        <c:axId val="1237315440"/>
        <c:scaling>
          <c:orientation val="minMax"/>
        </c:scaling>
        <c:delete val="0"/>
        <c:axPos val="l"/>
        <c:majorGridlines>
          <c:spPr>
            <a:noFill/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horzOverflow="overflow" vert="horz" wrap="square" anchor="ctr" anchorCtr="1"/>
          <a:lstStyle/>
          <a:p>
            <a:pPr>
              <a:defRPr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2373214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horzOverflow="overflow" vert="horz" wrap="square" anchor="ctr" anchorCtr="1"/>
        <a:lstStyle/>
        <a:p>
          <a:pPr>
            <a:defRPr sz="1195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 rot="0" spcFirstLastPara="0" vertOverflow="ellipsis" horzOverflow="overflow" vert="horz" wrap="square" anchor="ctr" anchorCtr="1"/>
    <a:lstStyle/>
    <a:p>
      <a:pPr>
        <a:defRPr lang="en-US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ctr">
              <a:defRPr lang="zh-CN" sz="186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800" b="1" i="0" baseline="0" dirty="0" smtClean="0">
                <a:effectLst/>
              </a:rPr>
              <a:t>加速比</a:t>
            </a:r>
            <a:endParaRPr lang="zh-CN" altLang="zh-CN" dirty="0">
              <a:effectLst/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Sheet1!$A$2:$A$7</c:f>
              <c:numCache>
                <c:formatCode>General</c:formatCode>
                <c:ptCount val="6"/>
                <c:pt idx="0">
                  <c:v>1000</c:v>
                </c:pt>
                <c:pt idx="1">
                  <c:v>2000</c:v>
                </c:pt>
                <c:pt idx="2">
                  <c:v>3000</c:v>
                </c:pt>
                <c:pt idx="3">
                  <c:v>4000</c:v>
                </c:pt>
                <c:pt idx="4">
                  <c:v>5000</c:v>
                </c:pt>
                <c:pt idx="5">
                  <c:v>6000</c:v>
                </c:pt>
              </c:numCache>
            </c:numRef>
          </c:cat>
          <c:val>
            <c:numRef>
              <c:f>Sheet1!$B$2:$B$7</c:f>
              <c:numCache>
                <c:formatCode>General</c:formatCode>
                <c:ptCount val="6"/>
                <c:pt idx="0" c:formatCode="General">
                  <c:v>2.618428</c:v>
                </c:pt>
                <c:pt idx="1" c:formatCode="General">
                  <c:v>2.500622</c:v>
                </c:pt>
                <c:pt idx="2" c:formatCode="General">
                  <c:v>2.49614039139484</c:v>
                </c:pt>
                <c:pt idx="3" c:formatCode="General">
                  <c:v>2.496083</c:v>
                </c:pt>
                <c:pt idx="4" c:formatCode="General">
                  <c:v>2.503746</c:v>
                </c:pt>
                <c:pt idx="5" c:formatCode="General">
                  <c:v>2.500788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/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Sheet1!$A$2:$A$7</c:f>
              <c:numCache>
                <c:formatCode>General</c:formatCode>
                <c:ptCount val="6"/>
                <c:pt idx="0">
                  <c:v>1000</c:v>
                </c:pt>
                <c:pt idx="1">
                  <c:v>2000</c:v>
                </c:pt>
                <c:pt idx="2">
                  <c:v>3000</c:v>
                </c:pt>
                <c:pt idx="3">
                  <c:v>4000</c:v>
                </c:pt>
                <c:pt idx="4">
                  <c:v>5000</c:v>
                </c:pt>
                <c:pt idx="5">
                  <c:v>6000</c:v>
                </c:pt>
              </c:numCache>
            </c:numRef>
          </c:cat>
          <c:val>
            <c:numRef>
              <c:f>Sheet1!$C$2:$C$7</c:f>
              <c:numCache>
                <c:formatCode>General</c:formatCode>
                <c:ptCount val="6"/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/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Sheet1!$A$2:$A$7</c:f>
              <c:numCache>
                <c:formatCode>General</c:formatCode>
                <c:ptCount val="6"/>
                <c:pt idx="0">
                  <c:v>1000</c:v>
                </c:pt>
                <c:pt idx="1">
                  <c:v>2000</c:v>
                </c:pt>
                <c:pt idx="2">
                  <c:v>3000</c:v>
                </c:pt>
                <c:pt idx="3">
                  <c:v>4000</c:v>
                </c:pt>
                <c:pt idx="4">
                  <c:v>5000</c:v>
                </c:pt>
                <c:pt idx="5">
                  <c:v>6000</c:v>
                </c:pt>
              </c:numCache>
            </c:numRef>
          </c:cat>
          <c:val>
            <c:numRef>
              <c:f>Sheet1!$D$2:$D$7</c:f>
              <c:numCache>
                <c:formatCode>General</c:formatCode>
                <c:ptCount val="6"/>
              </c:numCache>
            </c:numRef>
          </c:val>
          <c:smooth val="0"/>
        </c:ser>
        <c:dLbls>
          <c:dLblPos val="r"/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1237310000"/>
        <c:axId val="1237320336"/>
      </c:lineChart>
      <c:catAx>
        <c:axId val="12373100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horzOverflow="overflow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237320336"/>
        <c:crosses val="autoZero"/>
        <c:auto val="1"/>
        <c:lblAlgn val="ctr"/>
        <c:lblOffset val="100"/>
        <c:tickMarkSkip val="1"/>
        <c:noMultiLvlLbl val="0"/>
      </c:catAx>
      <c:valAx>
        <c:axId val="1237320336"/>
        <c:scaling>
          <c:orientation val="minMax"/>
        </c:scaling>
        <c:delete val="0"/>
        <c:axPos val="l"/>
        <c:majorGridlines>
          <c:spPr>
            <a:noFill/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horzOverflow="overflow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123731000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 rot="0" spcFirstLastPara="0" vertOverflow="ellipsis" horzOverflow="overflow" vert="horz" wrap="square" anchor="ctr" anchorCtr="1"/>
    <a:lstStyle/>
    <a:p>
      <a:pPr>
        <a:defRPr lang="zh-CN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Reversed" id="23">
  <a:schemeClr val="accent3"/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4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53A075-29DF-4CAE-8BA7-CDA0ED456C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924EE-29F1-4E68-A53A-86CBCBDF827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2B73EA-EE91-4E33-A9C1-8BF5DD7139A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>
    <p:push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>
    <p:push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med">
    <p:push/>
  </p:transition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ransition spd="med">
    <p:push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8060402020202020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8060402020202020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8060402020202020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8060402020202020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8060402020202020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8060402020202020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8060402020202020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8060402020202020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8060402020202020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4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Relationship Id="rId3" Type="http://schemas.openxmlformats.org/officeDocument/2006/relationships/themeOverride" Target="../theme/themeOverride4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0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2.xml"/><Relationship Id="rId2" Type="http://schemas.openxmlformats.org/officeDocument/2006/relationships/themeOverride" Target="../theme/themeOverride11.xml"/><Relationship Id="rId1" Type="http://schemas.openxmlformats.org/officeDocument/2006/relationships/image" Target="../media/image1.tif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8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2.xml"/><Relationship Id="rId2" Type="http://schemas.openxmlformats.org/officeDocument/2006/relationships/themeOverride" Target="../theme/themeOverride19.xml"/><Relationship Id="rId1" Type="http://schemas.openxmlformats.org/officeDocument/2006/relationships/chart" Target="../charts/chart1.xml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1.xml"/><Relationship Id="rId4" Type="http://schemas.openxmlformats.org/officeDocument/2006/relationships/slideLayout" Target="../slideLayouts/slideLayout2.xml"/><Relationship Id="rId3" Type="http://schemas.openxmlformats.org/officeDocument/2006/relationships/themeOverride" Target="../theme/themeOverride20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2.xml"/><Relationship Id="rId2" Type="http://schemas.openxmlformats.org/officeDocument/2006/relationships/themeOverride" Target="../theme/themeOverride21.xml"/><Relationship Id="rId1" Type="http://schemas.openxmlformats.org/officeDocument/2006/relationships/chart" Target="../charts/char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菱形 2"/>
          <p:cNvSpPr/>
          <p:nvPr/>
        </p:nvSpPr>
        <p:spPr>
          <a:xfrm>
            <a:off x="7560945" y="1603375"/>
            <a:ext cx="1922780" cy="1793240"/>
          </a:xfrm>
          <a:prstGeom prst="diamond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 rot="18840000">
            <a:off x="4138930" y="-254000"/>
            <a:ext cx="4261485" cy="105283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 rot="18840000">
            <a:off x="5226685" y="706755"/>
            <a:ext cx="4560570" cy="109283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 rot="2640000">
            <a:off x="5226050" y="3211830"/>
            <a:ext cx="4560570" cy="105283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327854" y="3396615"/>
            <a:ext cx="5173802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400" b="1" spc="3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基于</a:t>
            </a:r>
            <a:r>
              <a:rPr lang="en-US" altLang="zh-CN" sz="4400" b="1" spc="3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MPI</a:t>
            </a:r>
            <a:r>
              <a:rPr lang="zh-CN" altLang="en-US" sz="4400" b="1" spc="30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</a:t>
            </a:r>
            <a:endParaRPr lang="en-US" altLang="zh-CN" sz="4400" b="1" spc="300" dirty="0" smtClean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400" b="1" spc="3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并行</a:t>
            </a:r>
            <a:r>
              <a:rPr lang="en-US" altLang="zh-CN" sz="4400" b="1" spc="300" dirty="0" err="1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Kmeans</a:t>
            </a:r>
            <a:r>
              <a:rPr lang="zh-CN" altLang="en-US" sz="4400" b="1" spc="3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算法</a:t>
            </a:r>
            <a:endParaRPr lang="en-US" altLang="zh-CN" sz="4400" b="1" spc="3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33001" y="3018155"/>
            <a:ext cx="1080135" cy="3581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395536" y="2997835"/>
            <a:ext cx="115443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REPORT</a:t>
            </a: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/>
        </p:nvSpPr>
        <p:spPr>
          <a:xfrm>
            <a:off x="0" y="1118081"/>
            <a:ext cx="8244409" cy="1575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grpSp>
        <p:nvGrpSpPr>
          <p:cNvPr id="5" name="Group 10"/>
          <p:cNvGrpSpPr/>
          <p:nvPr/>
        </p:nvGrpSpPr>
        <p:grpSpPr>
          <a:xfrm>
            <a:off x="1750045" y="1873729"/>
            <a:ext cx="3399876" cy="530914"/>
            <a:chOff x="6764723" y="1520469"/>
            <a:chExt cx="4533169" cy="707886"/>
          </a:xfrm>
        </p:grpSpPr>
        <p:sp>
          <p:nvSpPr>
            <p:cNvPr id="21" name="TextBox 11"/>
            <p:cNvSpPr txBox="1"/>
            <p:nvPr/>
          </p:nvSpPr>
          <p:spPr>
            <a:xfrm>
              <a:off x="6764723" y="1520469"/>
              <a:ext cx="655949" cy="707886"/>
            </a:xfrm>
            <a:prstGeom prst="rect">
              <a:avLst/>
            </a:prstGeom>
            <a:noFill/>
          </p:spPr>
          <p:txBody>
            <a:bodyPr wrap="none" anchor="ctr">
              <a:normAutofit fontScale="85000" lnSpcReduction="20000"/>
            </a:bodyPr>
            <a:lstStyle/>
            <a:p>
              <a:pPr algn="ctr"/>
              <a:r>
                <a:rPr lang="en-US" altLang="zh-CN" sz="4000">
                  <a:solidFill>
                    <a:srgbClr val="0070C0"/>
                  </a:solidFill>
                  <a:cs typeface="+mn-ea"/>
                  <a:sym typeface="+mn-lt"/>
                </a:rPr>
                <a:t>01</a:t>
              </a:r>
            </a:p>
          </p:txBody>
        </p:sp>
        <p:sp>
          <p:nvSpPr>
            <p:cNvPr id="23" name="TextBox 13"/>
            <p:cNvSpPr txBox="1"/>
            <p:nvPr/>
          </p:nvSpPr>
          <p:spPr>
            <a:xfrm>
              <a:off x="7335318" y="1624694"/>
              <a:ext cx="3962574" cy="440614"/>
            </a:xfrm>
            <a:prstGeom prst="rect">
              <a:avLst/>
            </a:prstGeom>
            <a:noFill/>
          </p:spPr>
          <p:txBody>
            <a:bodyPr wrap="none" lIns="360000" tIns="0" rIns="0" bIns="0" anchor="b" anchorCtr="0">
              <a:noAutofit/>
            </a:bodyPr>
            <a:lstStyle/>
            <a:p>
              <a:r>
                <a:rPr lang="en-US" altLang="zh-CN" sz="2400" b="1" dirty="0" smtClean="0">
                  <a:solidFill>
                    <a:srgbClr val="0070C0"/>
                  </a:solidFill>
                  <a:cs typeface="+mn-ea"/>
                  <a:sym typeface="+mn-lt"/>
                </a:rPr>
                <a:t>MPI</a:t>
              </a:r>
              <a:endParaRPr lang="zh-CN" altLang="en-US" sz="2400" b="1" dirty="0">
                <a:solidFill>
                  <a:srgbClr val="0070C0"/>
                </a:solidFill>
                <a:cs typeface="+mn-ea"/>
                <a:sym typeface="+mn-lt"/>
              </a:endParaRPr>
            </a:p>
          </p:txBody>
        </p:sp>
      </p:grpSp>
      <p:sp>
        <p:nvSpPr>
          <p:cNvPr id="29" name="矩形 28"/>
          <p:cNvSpPr/>
          <p:nvPr/>
        </p:nvSpPr>
        <p:spPr>
          <a:xfrm>
            <a:off x="467544" y="0"/>
            <a:ext cx="1105844" cy="33462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344112" y="1879252"/>
            <a:ext cx="1352707" cy="692498"/>
            <a:chOff x="3896925" y="1205017"/>
            <a:chExt cx="1352707" cy="692498"/>
          </a:xfrm>
        </p:grpSpPr>
        <p:sp>
          <p:nvSpPr>
            <p:cNvPr id="26" name="TextBox 7"/>
            <p:cNvSpPr txBox="1"/>
            <p:nvPr/>
          </p:nvSpPr>
          <p:spPr>
            <a:xfrm>
              <a:off x="3899482" y="1512952"/>
              <a:ext cx="1350150" cy="384563"/>
            </a:xfrm>
            <a:prstGeom prst="rect">
              <a:avLst/>
            </a:prstGeom>
            <a:noFill/>
          </p:spPr>
          <p:txBody>
            <a:bodyPr wrap="square" lIns="0" tIns="0" rIns="0" bIns="0" anchor="b" anchorCtr="0">
              <a:normAutofit/>
            </a:bodyPr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cs typeface="+mn-ea"/>
                  <a:sym typeface="+mn-lt"/>
                </a:rPr>
                <a:t>Contents</a:t>
              </a:r>
            </a:p>
          </p:txBody>
        </p:sp>
        <p:sp>
          <p:nvSpPr>
            <p:cNvPr id="27" name="Rectangle 9"/>
            <p:cNvSpPr/>
            <p:nvPr/>
          </p:nvSpPr>
          <p:spPr>
            <a:xfrm>
              <a:off x="3896925" y="1205017"/>
              <a:ext cx="1350150" cy="692498"/>
            </a:xfrm>
            <a:prstGeom prst="rect">
              <a:avLst/>
            </a:prstGeom>
          </p:spPr>
          <p:txBody>
            <a:bodyPr wrap="square">
              <a:normAutofit/>
            </a:bodyPr>
            <a:lstStyle/>
            <a:p>
              <a:pPr algn="ctr"/>
              <a:r>
                <a:rPr lang="zh-CN" altLang="en-US" sz="3200" b="1" dirty="0">
                  <a:solidFill>
                    <a:schemeClr val="bg1"/>
                  </a:solidFill>
                  <a:cs typeface="+mn-ea"/>
                  <a:sym typeface="+mn-lt"/>
                </a:rPr>
                <a:t>目录</a:t>
              </a:r>
            </a:p>
          </p:txBody>
        </p:sp>
      </p:grpSp>
      <p:grpSp>
        <p:nvGrpSpPr>
          <p:cNvPr id="20" name="Group 10"/>
          <p:cNvGrpSpPr/>
          <p:nvPr/>
        </p:nvGrpSpPr>
        <p:grpSpPr>
          <a:xfrm>
            <a:off x="4865380" y="1843767"/>
            <a:ext cx="3399876" cy="530914"/>
            <a:chOff x="6764723" y="1520469"/>
            <a:chExt cx="4533169" cy="707886"/>
          </a:xfrm>
        </p:grpSpPr>
        <p:sp>
          <p:nvSpPr>
            <p:cNvPr id="22" name="TextBox 11"/>
            <p:cNvSpPr txBox="1"/>
            <p:nvPr/>
          </p:nvSpPr>
          <p:spPr>
            <a:xfrm>
              <a:off x="6764723" y="1520469"/>
              <a:ext cx="655949" cy="707886"/>
            </a:xfrm>
            <a:prstGeom prst="rect">
              <a:avLst/>
            </a:prstGeom>
            <a:noFill/>
          </p:spPr>
          <p:txBody>
            <a:bodyPr wrap="none" anchor="ctr">
              <a:normAutofit fontScale="85000" lnSpcReduction="20000"/>
            </a:bodyPr>
            <a:lstStyle/>
            <a:p>
              <a:pPr algn="ctr"/>
              <a:r>
                <a:rPr lang="en-US" altLang="zh-CN" sz="4000" dirty="0" smtClean="0">
                  <a:solidFill>
                    <a:srgbClr val="0070C0"/>
                  </a:solidFill>
                  <a:cs typeface="+mn-ea"/>
                  <a:sym typeface="+mn-lt"/>
                </a:rPr>
                <a:t>02</a:t>
              </a:r>
              <a:endParaRPr lang="en-US" altLang="zh-CN" sz="4000" dirty="0">
                <a:solidFill>
                  <a:srgbClr val="0070C0"/>
                </a:solidFill>
                <a:cs typeface="+mn-ea"/>
                <a:sym typeface="+mn-lt"/>
              </a:endParaRPr>
            </a:p>
          </p:txBody>
        </p:sp>
        <p:sp>
          <p:nvSpPr>
            <p:cNvPr id="24" name="TextBox 13"/>
            <p:cNvSpPr txBox="1"/>
            <p:nvPr/>
          </p:nvSpPr>
          <p:spPr>
            <a:xfrm>
              <a:off x="7335318" y="1624694"/>
              <a:ext cx="3962574" cy="440614"/>
            </a:xfrm>
            <a:prstGeom prst="rect">
              <a:avLst/>
            </a:prstGeom>
            <a:noFill/>
          </p:spPr>
          <p:txBody>
            <a:bodyPr wrap="none" lIns="360000" tIns="0" rIns="0" bIns="0" anchor="b" anchorCtr="0">
              <a:noAutofit/>
            </a:bodyPr>
            <a:lstStyle/>
            <a:p>
              <a:r>
                <a:rPr lang="en-US" altLang="zh-CN" sz="2400" b="1" dirty="0" err="1" smtClean="0">
                  <a:solidFill>
                    <a:srgbClr val="0070C0"/>
                  </a:solidFill>
                  <a:cs typeface="+mn-ea"/>
                  <a:sym typeface="+mn-lt"/>
                </a:rPr>
                <a:t>pKmeans</a:t>
              </a:r>
              <a:endParaRPr lang="zh-CN" altLang="en-US" sz="2400" b="1" dirty="0">
                <a:solidFill>
                  <a:srgbClr val="0070C0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0" name="Group 10"/>
          <p:cNvGrpSpPr/>
          <p:nvPr/>
        </p:nvGrpSpPr>
        <p:grpSpPr>
          <a:xfrm>
            <a:off x="4865380" y="2677385"/>
            <a:ext cx="3399876" cy="530914"/>
            <a:chOff x="6764723" y="1520469"/>
            <a:chExt cx="4533169" cy="707886"/>
          </a:xfrm>
        </p:grpSpPr>
        <p:sp>
          <p:nvSpPr>
            <p:cNvPr id="31" name="TextBox 11"/>
            <p:cNvSpPr txBox="1"/>
            <p:nvPr/>
          </p:nvSpPr>
          <p:spPr>
            <a:xfrm>
              <a:off x="6764723" y="1520469"/>
              <a:ext cx="655949" cy="707886"/>
            </a:xfrm>
            <a:prstGeom prst="rect">
              <a:avLst/>
            </a:prstGeom>
            <a:noFill/>
          </p:spPr>
          <p:txBody>
            <a:bodyPr wrap="none" anchor="ctr">
              <a:normAutofit fontScale="85000" lnSpcReduction="20000"/>
            </a:bodyPr>
            <a:lstStyle/>
            <a:p>
              <a:pPr algn="ctr"/>
              <a:r>
                <a:rPr lang="en-US" altLang="zh-CN" sz="4000" dirty="0" smtClean="0">
                  <a:solidFill>
                    <a:srgbClr val="595959"/>
                  </a:solidFill>
                  <a:cs typeface="+mn-ea"/>
                  <a:sym typeface="+mn-lt"/>
                </a:rPr>
                <a:t>04</a:t>
              </a:r>
              <a:endParaRPr lang="en-US" altLang="zh-CN" sz="4000" dirty="0">
                <a:solidFill>
                  <a:srgbClr val="595959"/>
                </a:solidFill>
                <a:cs typeface="+mn-ea"/>
                <a:sym typeface="+mn-lt"/>
              </a:endParaRPr>
            </a:p>
          </p:txBody>
        </p:sp>
        <p:sp>
          <p:nvSpPr>
            <p:cNvPr id="32" name="TextBox 13"/>
            <p:cNvSpPr txBox="1"/>
            <p:nvPr/>
          </p:nvSpPr>
          <p:spPr>
            <a:xfrm>
              <a:off x="7335318" y="1624694"/>
              <a:ext cx="3962574" cy="440614"/>
            </a:xfrm>
            <a:prstGeom prst="rect">
              <a:avLst/>
            </a:prstGeom>
            <a:noFill/>
          </p:spPr>
          <p:txBody>
            <a:bodyPr wrap="none" lIns="360000" tIns="0" rIns="0" bIns="0" anchor="b" anchorCtr="0">
              <a:noAutofit/>
            </a:bodyPr>
            <a:lstStyle/>
            <a:p>
              <a:r>
                <a:rPr lang="zh-CN" altLang="en-US" sz="2400" b="1" dirty="0" smtClean="0">
                  <a:solidFill>
                    <a:srgbClr val="595959"/>
                  </a:solidFill>
                  <a:cs typeface="+mn-ea"/>
                  <a:sym typeface="+mn-lt"/>
                </a:rPr>
                <a:t>实验结论</a:t>
              </a:r>
              <a:endParaRPr lang="zh-CN" altLang="en-US" sz="2400" b="1" dirty="0">
                <a:solidFill>
                  <a:srgbClr val="595959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3" name="Group 10"/>
          <p:cNvGrpSpPr/>
          <p:nvPr/>
        </p:nvGrpSpPr>
        <p:grpSpPr>
          <a:xfrm>
            <a:off x="1750045" y="2712287"/>
            <a:ext cx="3399876" cy="530914"/>
            <a:chOff x="6764723" y="1520469"/>
            <a:chExt cx="4533169" cy="707886"/>
          </a:xfrm>
        </p:grpSpPr>
        <p:sp>
          <p:nvSpPr>
            <p:cNvPr id="34" name="TextBox 11"/>
            <p:cNvSpPr txBox="1"/>
            <p:nvPr/>
          </p:nvSpPr>
          <p:spPr>
            <a:xfrm>
              <a:off x="6764723" y="1520469"/>
              <a:ext cx="655949" cy="707886"/>
            </a:xfrm>
            <a:prstGeom prst="rect">
              <a:avLst/>
            </a:prstGeom>
            <a:noFill/>
          </p:spPr>
          <p:txBody>
            <a:bodyPr wrap="none" anchor="ctr">
              <a:normAutofit fontScale="85000" lnSpcReduction="20000"/>
            </a:bodyPr>
            <a:lstStyle/>
            <a:p>
              <a:pPr algn="ctr"/>
              <a:r>
                <a:rPr lang="en-US" altLang="zh-CN" sz="4000" dirty="0" smtClean="0">
                  <a:solidFill>
                    <a:srgbClr val="595959"/>
                  </a:solidFill>
                  <a:cs typeface="+mn-ea"/>
                  <a:sym typeface="+mn-lt"/>
                </a:rPr>
                <a:t>03</a:t>
              </a:r>
              <a:endParaRPr lang="en-US" altLang="zh-CN" sz="4000" dirty="0">
                <a:solidFill>
                  <a:srgbClr val="595959"/>
                </a:solidFill>
                <a:cs typeface="+mn-ea"/>
                <a:sym typeface="+mn-lt"/>
              </a:endParaRPr>
            </a:p>
          </p:txBody>
        </p:sp>
        <p:sp>
          <p:nvSpPr>
            <p:cNvPr id="35" name="TextBox 13"/>
            <p:cNvSpPr txBox="1"/>
            <p:nvPr/>
          </p:nvSpPr>
          <p:spPr>
            <a:xfrm>
              <a:off x="7335318" y="1624694"/>
              <a:ext cx="3962574" cy="440614"/>
            </a:xfrm>
            <a:prstGeom prst="rect">
              <a:avLst/>
            </a:prstGeom>
            <a:noFill/>
          </p:spPr>
          <p:txBody>
            <a:bodyPr wrap="none" lIns="360000" tIns="0" rIns="0" bIns="0" anchor="b" anchorCtr="0">
              <a:noAutofit/>
            </a:bodyPr>
            <a:lstStyle/>
            <a:p>
              <a:r>
                <a:rPr lang="zh-CN" altLang="en-US" sz="2400" b="1" dirty="0" smtClean="0">
                  <a:solidFill>
                    <a:srgbClr val="595959"/>
                  </a:solidFill>
                  <a:cs typeface="+mn-ea"/>
                  <a:sym typeface="+mn-lt"/>
                </a:rPr>
                <a:t>并行</a:t>
              </a:r>
              <a:r>
                <a:rPr lang="en-US" altLang="zh-CN" sz="2400" b="1" dirty="0" smtClean="0">
                  <a:solidFill>
                    <a:srgbClr val="595959"/>
                  </a:solidFill>
                  <a:cs typeface="+mn-ea"/>
                  <a:sym typeface="+mn-lt"/>
                </a:rPr>
                <a:t>IO</a:t>
              </a:r>
              <a:endParaRPr lang="zh-CN" altLang="en-US" sz="2400" b="1" dirty="0">
                <a:solidFill>
                  <a:srgbClr val="595959"/>
                </a:solidFill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p:transition spd="med">
    <p:push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48"/>
          <p:cNvSpPr txBox="1"/>
          <p:nvPr/>
        </p:nvSpPr>
        <p:spPr>
          <a:xfrm>
            <a:off x="4087659" y="2643758"/>
            <a:ext cx="1152128" cy="6771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4400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+mn-ea"/>
                <a:sym typeface="+mn-lt"/>
              </a:rPr>
              <a:t>MPI</a:t>
            </a:r>
            <a:endParaRPr lang="en-GB" altLang="zh-CN" sz="4400" dirty="0">
              <a:solidFill>
                <a:schemeClr val="tx1">
                  <a:lumMod val="65000"/>
                  <a:lumOff val="3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4032064" y="1206537"/>
            <a:ext cx="1116000" cy="1080120"/>
            <a:chOff x="4032064" y="1206537"/>
            <a:chExt cx="1116000" cy="1080120"/>
          </a:xfrm>
        </p:grpSpPr>
        <p:sp>
          <p:nvSpPr>
            <p:cNvPr id="9" name="矩形 8"/>
            <p:cNvSpPr/>
            <p:nvPr/>
          </p:nvSpPr>
          <p:spPr>
            <a:xfrm>
              <a:off x="4032064" y="1206537"/>
              <a:ext cx="1080120" cy="108012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4" name="TextBox 48"/>
            <p:cNvSpPr txBox="1"/>
            <p:nvPr/>
          </p:nvSpPr>
          <p:spPr>
            <a:xfrm>
              <a:off x="4179383" y="1308705"/>
              <a:ext cx="968681" cy="83099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5400" dirty="0">
                  <a:solidFill>
                    <a:schemeClr val="bg1"/>
                  </a:solidFill>
                  <a:cs typeface="+mn-ea"/>
                  <a:sym typeface="+mn-lt"/>
                </a:rPr>
                <a:t>01</a:t>
              </a:r>
              <a:endParaRPr lang="en-GB" altLang="zh-CN" sz="5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p:transition spd="med">
    <p:push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6a89d2df-c045-47b9-8691-de29f9901f55"/>
          <p:cNvGrpSpPr>
            <a:grpSpLocks noChangeAspect="1"/>
          </p:cNvGrpSpPr>
          <p:nvPr/>
        </p:nvGrpSpPr>
        <p:grpSpPr>
          <a:xfrm>
            <a:off x="2267744" y="2571750"/>
            <a:ext cx="4248472" cy="1069291"/>
            <a:chOff x="2018856" y="1184573"/>
            <a:chExt cx="8162120" cy="4949527"/>
          </a:xfrm>
        </p:grpSpPr>
        <p:sp>
          <p:nvSpPr>
            <p:cNvPr id="4" name="Freeform: Shape 2"/>
            <p:cNvSpPr/>
            <p:nvPr/>
          </p:nvSpPr>
          <p:spPr bwMode="auto">
            <a:xfrm>
              <a:off x="4631294" y="1943601"/>
              <a:ext cx="2938083" cy="3185713"/>
            </a:xfrm>
            <a:custGeom>
              <a:avLst/>
              <a:gdLst>
                <a:gd name="T0" fmla="*/ 2015 w 2015"/>
                <a:gd name="T1" fmla="*/ 1007 h 1636"/>
                <a:gd name="T2" fmla="*/ 1385 w 2015"/>
                <a:gd name="T3" fmla="*/ 1636 h 1636"/>
                <a:gd name="T4" fmla="*/ 0 w 2015"/>
                <a:gd name="T5" fmla="*/ 251 h 1636"/>
                <a:gd name="T6" fmla="*/ 1008 w 2015"/>
                <a:gd name="T7" fmla="*/ 0 h 1636"/>
                <a:gd name="T8" fmla="*/ 2015 w 2015"/>
                <a:gd name="T9" fmla="*/ 1007 h 1636"/>
                <a:gd name="connsiteX0" fmla="*/ 7488 w 7488"/>
                <a:gd name="connsiteY0" fmla="*/ 6155 h 10000"/>
                <a:gd name="connsiteX1" fmla="*/ 4361 w 7488"/>
                <a:gd name="connsiteY1" fmla="*/ 10000 h 10000"/>
                <a:gd name="connsiteX2" fmla="*/ 0 w 7488"/>
                <a:gd name="connsiteY2" fmla="*/ 4596 h 10000"/>
                <a:gd name="connsiteX3" fmla="*/ 2490 w 7488"/>
                <a:gd name="connsiteY3" fmla="*/ 0 h 10000"/>
                <a:gd name="connsiteX4" fmla="*/ 7488 w 7488"/>
                <a:gd name="connsiteY4" fmla="*/ 6155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88" h="10000">
                  <a:moveTo>
                    <a:pt x="7488" y="6155"/>
                  </a:moveTo>
                  <a:lnTo>
                    <a:pt x="4361" y="10000"/>
                  </a:lnTo>
                  <a:lnTo>
                    <a:pt x="0" y="4596"/>
                  </a:lnTo>
                  <a:lnTo>
                    <a:pt x="2490" y="0"/>
                  </a:lnTo>
                  <a:lnTo>
                    <a:pt x="7488" y="6155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 vert="horz" wrap="square" lIns="91440" tIns="45720" rIns="91440" bIns="45720" anchor="t" anchorCtr="0" compatLnSpc="1">
              <a:normAutofit/>
            </a:bodyPr>
            <a:lstStyle/>
            <a:p>
              <a:endParaRPr lang="id-ID" dirty="0">
                <a:cs typeface="+mn-ea"/>
                <a:sym typeface="+mn-lt"/>
              </a:endParaRPr>
            </a:p>
          </p:txBody>
        </p:sp>
        <p:sp>
          <p:nvSpPr>
            <p:cNvPr id="5" name="Freeform: Shape 3"/>
            <p:cNvSpPr/>
            <p:nvPr/>
          </p:nvSpPr>
          <p:spPr bwMode="auto">
            <a:xfrm>
              <a:off x="4631293" y="1184573"/>
              <a:ext cx="5549683" cy="2802103"/>
            </a:xfrm>
            <a:custGeom>
              <a:avLst/>
              <a:gdLst>
                <a:gd name="T0" fmla="*/ 2850 w 2850"/>
                <a:gd name="T1" fmla="*/ 719 h 1439"/>
                <a:gd name="T2" fmla="*/ 2027 w 2850"/>
                <a:gd name="T3" fmla="*/ 0 h 1439"/>
                <a:gd name="T4" fmla="*/ 2027 w 2850"/>
                <a:gd name="T5" fmla="*/ 291 h 1439"/>
                <a:gd name="T6" fmla="*/ 0 w 2850"/>
                <a:gd name="T7" fmla="*/ 291 h 1439"/>
                <a:gd name="T8" fmla="*/ 0 w 2850"/>
                <a:gd name="T9" fmla="*/ 1146 h 1439"/>
                <a:gd name="T10" fmla="*/ 2027 w 2850"/>
                <a:gd name="T11" fmla="*/ 1146 h 1439"/>
                <a:gd name="T12" fmla="*/ 2027 w 2850"/>
                <a:gd name="T13" fmla="*/ 1439 h 1439"/>
                <a:gd name="T14" fmla="*/ 2850 w 2850"/>
                <a:gd name="T15" fmla="*/ 719 h 14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850" h="1439">
                  <a:moveTo>
                    <a:pt x="2850" y="719"/>
                  </a:moveTo>
                  <a:lnTo>
                    <a:pt x="2027" y="0"/>
                  </a:lnTo>
                  <a:lnTo>
                    <a:pt x="2027" y="291"/>
                  </a:lnTo>
                  <a:lnTo>
                    <a:pt x="0" y="291"/>
                  </a:lnTo>
                  <a:lnTo>
                    <a:pt x="0" y="1146"/>
                  </a:lnTo>
                  <a:lnTo>
                    <a:pt x="2027" y="1146"/>
                  </a:lnTo>
                  <a:lnTo>
                    <a:pt x="2027" y="1439"/>
                  </a:lnTo>
                  <a:lnTo>
                    <a:pt x="2850" y="71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6" name="Freeform: Shape 4"/>
            <p:cNvSpPr/>
            <p:nvPr/>
          </p:nvSpPr>
          <p:spPr bwMode="auto">
            <a:xfrm>
              <a:off x="2018856" y="3330050"/>
              <a:ext cx="5549683" cy="2804050"/>
            </a:xfrm>
            <a:custGeom>
              <a:avLst/>
              <a:gdLst>
                <a:gd name="T0" fmla="*/ 0 w 2850"/>
                <a:gd name="T1" fmla="*/ 719 h 1440"/>
                <a:gd name="T2" fmla="*/ 823 w 2850"/>
                <a:gd name="T3" fmla="*/ 1440 h 1440"/>
                <a:gd name="T4" fmla="*/ 823 w 2850"/>
                <a:gd name="T5" fmla="*/ 1147 h 1440"/>
                <a:gd name="T6" fmla="*/ 2850 w 2850"/>
                <a:gd name="T7" fmla="*/ 1147 h 1440"/>
                <a:gd name="T8" fmla="*/ 2850 w 2850"/>
                <a:gd name="T9" fmla="*/ 292 h 1440"/>
                <a:gd name="T10" fmla="*/ 823 w 2850"/>
                <a:gd name="T11" fmla="*/ 292 h 1440"/>
                <a:gd name="T12" fmla="*/ 823 w 2850"/>
                <a:gd name="T13" fmla="*/ 0 h 1440"/>
                <a:gd name="T14" fmla="*/ 0 w 2850"/>
                <a:gd name="T15" fmla="*/ 719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850" h="1440">
                  <a:moveTo>
                    <a:pt x="0" y="719"/>
                  </a:moveTo>
                  <a:lnTo>
                    <a:pt x="823" y="1440"/>
                  </a:lnTo>
                  <a:lnTo>
                    <a:pt x="823" y="1147"/>
                  </a:lnTo>
                  <a:lnTo>
                    <a:pt x="2850" y="1147"/>
                  </a:lnTo>
                  <a:lnTo>
                    <a:pt x="2850" y="292"/>
                  </a:lnTo>
                  <a:lnTo>
                    <a:pt x="823" y="292"/>
                  </a:lnTo>
                  <a:lnTo>
                    <a:pt x="823" y="0"/>
                  </a:lnTo>
                  <a:lnTo>
                    <a:pt x="0" y="71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</p:grpSp>
      <p:sp>
        <p:nvSpPr>
          <p:cNvPr id="24" name="Title 1"/>
          <p:cNvSpPr txBox="1"/>
          <p:nvPr/>
        </p:nvSpPr>
        <p:spPr>
          <a:xfrm>
            <a:off x="611560" y="175643"/>
            <a:ext cx="2129944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1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MPI</a:t>
            </a:r>
            <a:endParaRPr lang="en-GB" altLang="zh-CN" sz="18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5" name="Title 1"/>
          <p:cNvSpPr txBox="1"/>
          <p:nvPr/>
        </p:nvSpPr>
        <p:spPr>
          <a:xfrm>
            <a:off x="2071844" y="639150"/>
            <a:ext cx="4968552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MPI(Message Passing Interface)</a:t>
            </a:r>
            <a:endParaRPr lang="en-GB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415660" y="2874432"/>
            <a:ext cx="1584176" cy="93610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进程</a:t>
            </a:r>
            <a:r>
              <a:rPr lang="en-US" altLang="zh-CN" dirty="0" smtClean="0"/>
              <a:t>0</a:t>
            </a:r>
            <a:endParaRPr lang="zh-CN" altLang="en-US" dirty="0"/>
          </a:p>
        </p:txBody>
      </p:sp>
      <p:sp>
        <p:nvSpPr>
          <p:cNvPr id="46" name="圆角矩形 45"/>
          <p:cNvSpPr/>
          <p:nvPr/>
        </p:nvSpPr>
        <p:spPr>
          <a:xfrm>
            <a:off x="6876256" y="2368891"/>
            <a:ext cx="1584176" cy="936104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进程</a:t>
            </a:r>
            <a:r>
              <a:rPr lang="en-US" altLang="zh-CN" dirty="0" smtClean="0"/>
              <a:t>1</a:t>
            </a:r>
            <a:endParaRPr lang="zh-CN" altLang="en-US" dirty="0"/>
          </a:p>
        </p:txBody>
      </p:sp>
      <p:sp>
        <p:nvSpPr>
          <p:cNvPr id="47" name="矩形 46"/>
          <p:cNvSpPr/>
          <p:nvPr/>
        </p:nvSpPr>
        <p:spPr>
          <a:xfrm>
            <a:off x="3563888" y="2139702"/>
            <a:ext cx="2016224" cy="432048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Message</a:t>
            </a:r>
            <a:endParaRPr lang="zh-CN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3140190" y="3708475"/>
            <a:ext cx="2016224" cy="432048"/>
          </a:xfrm>
          <a:prstGeom prst="rect">
            <a:avLst/>
          </a:prstGeom>
          <a:solidFill>
            <a:schemeClr val="accent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Data</a:t>
            </a:r>
            <a:endParaRPr lang="zh-CN" altLang="en-US" dirty="0"/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/>
          <p:cNvSpPr txBox="1"/>
          <p:nvPr/>
        </p:nvSpPr>
        <p:spPr>
          <a:xfrm>
            <a:off x="611560" y="175643"/>
            <a:ext cx="2129944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1800" dirty="0" smtClean="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MPI</a:t>
            </a:r>
            <a:endParaRPr lang="en-GB" altLang="zh-CN" sz="1800" dirty="0">
              <a:solidFill>
                <a:srgbClr val="000000">
                  <a:lumMod val="65000"/>
                  <a:lumOff val="3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11" name="Group 14"/>
          <p:cNvGrpSpPr/>
          <p:nvPr/>
        </p:nvGrpSpPr>
        <p:grpSpPr bwMode="auto">
          <a:xfrm>
            <a:off x="1331640" y="1059582"/>
            <a:ext cx="6912768" cy="3838557"/>
            <a:chOff x="32" y="675"/>
            <a:chExt cx="5695" cy="3261"/>
          </a:xfrm>
        </p:grpSpPr>
        <p:pic>
          <p:nvPicPr>
            <p:cNvPr id="12" name="Picture 6"/>
            <p:cNvPicPr>
              <a:picLocks noChangeAspect="1" noChangeArrowheads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" y="675"/>
              <a:ext cx="5695" cy="29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</p:pic>
        <p:sp>
          <p:nvSpPr>
            <p:cNvPr id="13" name="Line 7"/>
            <p:cNvSpPr>
              <a:spLocks noChangeShapeType="1"/>
            </p:cNvSpPr>
            <p:nvPr/>
          </p:nvSpPr>
          <p:spPr bwMode="auto">
            <a:xfrm>
              <a:off x="2544" y="1152"/>
              <a:ext cx="0" cy="1872"/>
            </a:xfrm>
            <a:prstGeom prst="line">
              <a:avLst/>
            </a:prstGeom>
            <a:noFill/>
            <a:ln w="38100">
              <a:solidFill>
                <a:srgbClr val="616161"/>
              </a:solidFill>
              <a:round/>
              <a:tailEnd type="triangle" w="med" len="med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 smtClean="0">
                <a:ln>
                  <a:noFill/>
                </a:ln>
                <a:solidFill>
                  <a:srgbClr val="616161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4" name="Text Box 8"/>
            <p:cNvSpPr txBox="1">
              <a:spLocks noChangeArrowheads="1"/>
            </p:cNvSpPr>
            <p:nvPr/>
          </p:nvSpPr>
          <p:spPr bwMode="auto">
            <a:xfrm>
              <a:off x="2630" y="1897"/>
              <a:ext cx="479" cy="2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24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616161"/>
                  </a:solidFill>
                  <a:effectLst/>
                  <a:uLnTx/>
                  <a:uFillTx/>
                  <a:latin typeface="Arial" panose="02080604020202020204" charset="0"/>
                  <a:ea typeface="MS PGothic" panose="020B0600070205080204" pitchFamily="34" charset="-128"/>
                </a:rPr>
                <a:t>time</a:t>
              </a: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616161"/>
                </a:solidFill>
                <a:effectLst/>
                <a:uLnTx/>
                <a:uFillTx/>
                <a:latin typeface="Arial" panose="02080604020202020204" charset="0"/>
                <a:ea typeface="MS PGothic" panose="020B0600070205080204" pitchFamily="34" charset="-128"/>
              </a:endParaRPr>
            </a:p>
          </p:txBody>
        </p:sp>
        <p:pic>
          <p:nvPicPr>
            <p:cNvPr id="15" name="Picture 13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2" y="3613"/>
              <a:ext cx="4098" cy="32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</p:pic>
      </p:grpSp>
      <p:sp>
        <p:nvSpPr>
          <p:cNvPr id="16" name="Title 1"/>
          <p:cNvSpPr txBox="1"/>
          <p:nvPr/>
        </p:nvSpPr>
        <p:spPr>
          <a:xfrm>
            <a:off x="2616588" y="444345"/>
            <a:ext cx="3528392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MPI_Send</a:t>
            </a:r>
            <a:r>
              <a:rPr lang="en-US" altLang="zh-CN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 &amp; </a:t>
            </a:r>
            <a:r>
              <a:rPr lang="en-US" altLang="zh-CN" sz="2400" b="1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MPI_Recv</a:t>
            </a:r>
            <a:endParaRPr lang="en-GB" altLang="zh-CN" sz="24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/>
          <p:cNvSpPr txBox="1"/>
          <p:nvPr/>
        </p:nvSpPr>
        <p:spPr>
          <a:xfrm>
            <a:off x="611560" y="175643"/>
            <a:ext cx="2129944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1800" dirty="0" smtClean="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MPI</a:t>
            </a:r>
            <a:endParaRPr lang="en-GB" altLang="zh-CN" sz="1800" dirty="0">
              <a:solidFill>
                <a:srgbClr val="000000">
                  <a:lumMod val="65000"/>
                  <a:lumOff val="3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5" name="Title 1"/>
          <p:cNvSpPr txBox="1"/>
          <p:nvPr/>
        </p:nvSpPr>
        <p:spPr>
          <a:xfrm>
            <a:off x="3701772" y="555120"/>
            <a:ext cx="1636060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err="1" smtClean="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MPI_Bcast</a:t>
            </a:r>
            <a:endParaRPr lang="en-GB" altLang="zh-CN" sz="2400" b="1" dirty="0">
              <a:solidFill>
                <a:srgbClr val="000000">
                  <a:lumMod val="65000"/>
                  <a:lumOff val="3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4111780" y="1393133"/>
            <a:ext cx="720080" cy="720080"/>
          </a:xfrm>
          <a:prstGeom prst="ellipse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0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3" name="椭圆 12"/>
          <p:cNvSpPr/>
          <p:nvPr/>
        </p:nvSpPr>
        <p:spPr>
          <a:xfrm>
            <a:off x="1053228" y="3291830"/>
            <a:ext cx="720080" cy="720080"/>
          </a:xfrm>
          <a:prstGeom prst="ellipse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1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4111780" y="3311581"/>
            <a:ext cx="720080" cy="720080"/>
          </a:xfrm>
          <a:prstGeom prst="ellipse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3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6" name="椭圆 15"/>
          <p:cNvSpPr/>
          <p:nvPr/>
        </p:nvSpPr>
        <p:spPr>
          <a:xfrm>
            <a:off x="7380312" y="3311581"/>
            <a:ext cx="720080" cy="720080"/>
          </a:xfrm>
          <a:prstGeom prst="ellipse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5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5746046" y="3291830"/>
            <a:ext cx="720080" cy="720080"/>
          </a:xfrm>
          <a:prstGeom prst="ellipse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4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2477514" y="3291830"/>
            <a:ext cx="720080" cy="720080"/>
          </a:xfrm>
          <a:prstGeom prst="ellipse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2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0" name="直接箭头连接符 9"/>
          <p:cNvCxnSpPr>
            <a:stCxn id="8" idx="2"/>
            <a:endCxn id="13" idx="0"/>
          </p:cNvCxnSpPr>
          <p:nvPr/>
        </p:nvCxnSpPr>
        <p:spPr>
          <a:xfrm flipH="1">
            <a:off x="1413268" y="1753173"/>
            <a:ext cx="2698512" cy="15386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>
            <a:stCxn id="8" idx="3"/>
            <a:endCxn id="18" idx="0"/>
          </p:cNvCxnSpPr>
          <p:nvPr/>
        </p:nvCxnSpPr>
        <p:spPr>
          <a:xfrm flipH="1">
            <a:off x="2837554" y="2007760"/>
            <a:ext cx="1379679" cy="12840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>
            <a:stCxn id="8" idx="4"/>
            <a:endCxn id="15" idx="0"/>
          </p:cNvCxnSpPr>
          <p:nvPr/>
        </p:nvCxnSpPr>
        <p:spPr>
          <a:xfrm>
            <a:off x="4471820" y="2113213"/>
            <a:ext cx="0" cy="11983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>
            <a:stCxn id="8" idx="5"/>
            <a:endCxn id="17" idx="0"/>
          </p:cNvCxnSpPr>
          <p:nvPr/>
        </p:nvCxnSpPr>
        <p:spPr>
          <a:xfrm>
            <a:off x="4726407" y="2007760"/>
            <a:ext cx="1379679" cy="12840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>
            <a:stCxn id="8" idx="6"/>
            <a:endCxn id="16" idx="0"/>
          </p:cNvCxnSpPr>
          <p:nvPr/>
        </p:nvCxnSpPr>
        <p:spPr>
          <a:xfrm>
            <a:off x="4831860" y="1753173"/>
            <a:ext cx="2908492" cy="15584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3" name="矩形 32"/>
          <p:cNvSpPr/>
          <p:nvPr/>
        </p:nvSpPr>
        <p:spPr>
          <a:xfrm>
            <a:off x="4932040" y="1463971"/>
            <a:ext cx="170505" cy="17050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/>
          <p:cNvSpPr/>
          <p:nvPr/>
        </p:nvSpPr>
        <p:spPr>
          <a:xfrm>
            <a:off x="1868075" y="3311577"/>
            <a:ext cx="170505" cy="17050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/>
          <p:cNvSpPr/>
          <p:nvPr/>
        </p:nvSpPr>
        <p:spPr>
          <a:xfrm>
            <a:off x="3292361" y="3311577"/>
            <a:ext cx="170505" cy="17050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/>
          <p:cNvSpPr/>
          <p:nvPr/>
        </p:nvSpPr>
        <p:spPr>
          <a:xfrm>
            <a:off x="4926627" y="3311578"/>
            <a:ext cx="170505" cy="17050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 38"/>
          <p:cNvSpPr/>
          <p:nvPr/>
        </p:nvSpPr>
        <p:spPr>
          <a:xfrm>
            <a:off x="6560893" y="3312063"/>
            <a:ext cx="170505" cy="17050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/>
          <p:cNvSpPr/>
          <p:nvPr/>
        </p:nvSpPr>
        <p:spPr>
          <a:xfrm>
            <a:off x="8249958" y="3311580"/>
            <a:ext cx="170505" cy="17050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/>
          <p:cNvSpPr txBox="1"/>
          <p:nvPr/>
        </p:nvSpPr>
        <p:spPr>
          <a:xfrm>
            <a:off x="611560" y="175643"/>
            <a:ext cx="2129944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1800" dirty="0" smtClean="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MPI</a:t>
            </a:r>
            <a:endParaRPr lang="en-GB" altLang="zh-CN" sz="1800" dirty="0">
              <a:solidFill>
                <a:srgbClr val="000000">
                  <a:lumMod val="65000"/>
                  <a:lumOff val="3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5" name="Title 1"/>
          <p:cNvSpPr txBox="1"/>
          <p:nvPr/>
        </p:nvSpPr>
        <p:spPr>
          <a:xfrm>
            <a:off x="3653096" y="554150"/>
            <a:ext cx="1949489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err="1" smtClean="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MPI_Scatte</a:t>
            </a:r>
            <a:r>
              <a:rPr lang="en-US" altLang="zh-CN" sz="2400" b="1" dirty="0" err="1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r</a:t>
            </a:r>
            <a:endParaRPr lang="en-GB" altLang="zh-CN" sz="2400" b="1" dirty="0">
              <a:solidFill>
                <a:srgbClr val="000000">
                  <a:lumMod val="65000"/>
                  <a:lumOff val="3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4111780" y="1393133"/>
            <a:ext cx="720080" cy="720080"/>
          </a:xfrm>
          <a:prstGeom prst="ellipse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0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" name="椭圆 4"/>
          <p:cNvSpPr/>
          <p:nvPr/>
        </p:nvSpPr>
        <p:spPr>
          <a:xfrm>
            <a:off x="1053228" y="3291830"/>
            <a:ext cx="720080" cy="720080"/>
          </a:xfrm>
          <a:prstGeom prst="ellipse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0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椭圆 5"/>
          <p:cNvSpPr/>
          <p:nvPr/>
        </p:nvSpPr>
        <p:spPr>
          <a:xfrm>
            <a:off x="4111780" y="3311581"/>
            <a:ext cx="720080" cy="720080"/>
          </a:xfrm>
          <a:prstGeom prst="ellipse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2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7" name="椭圆 6"/>
          <p:cNvSpPr/>
          <p:nvPr/>
        </p:nvSpPr>
        <p:spPr>
          <a:xfrm>
            <a:off x="7380312" y="3311581"/>
            <a:ext cx="720080" cy="720080"/>
          </a:xfrm>
          <a:prstGeom prst="ellipse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4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8" name="椭圆 7"/>
          <p:cNvSpPr/>
          <p:nvPr/>
        </p:nvSpPr>
        <p:spPr>
          <a:xfrm>
            <a:off x="5746046" y="3291830"/>
            <a:ext cx="720080" cy="720080"/>
          </a:xfrm>
          <a:prstGeom prst="ellipse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3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9" name="椭圆 8"/>
          <p:cNvSpPr/>
          <p:nvPr/>
        </p:nvSpPr>
        <p:spPr>
          <a:xfrm>
            <a:off x="2477514" y="3291830"/>
            <a:ext cx="720080" cy="720080"/>
          </a:xfrm>
          <a:prstGeom prst="ellipse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1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0" name="直接箭头连接符 9"/>
          <p:cNvCxnSpPr>
            <a:stCxn id="4" idx="2"/>
            <a:endCxn id="5" idx="0"/>
          </p:cNvCxnSpPr>
          <p:nvPr/>
        </p:nvCxnSpPr>
        <p:spPr>
          <a:xfrm flipH="1">
            <a:off x="1413268" y="1753173"/>
            <a:ext cx="2698512" cy="15386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>
            <a:stCxn id="4" idx="3"/>
            <a:endCxn id="9" idx="0"/>
          </p:cNvCxnSpPr>
          <p:nvPr/>
        </p:nvCxnSpPr>
        <p:spPr>
          <a:xfrm flipH="1">
            <a:off x="2837554" y="2007760"/>
            <a:ext cx="1379679" cy="12840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>
            <a:stCxn id="4" idx="4"/>
            <a:endCxn id="6" idx="0"/>
          </p:cNvCxnSpPr>
          <p:nvPr/>
        </p:nvCxnSpPr>
        <p:spPr>
          <a:xfrm>
            <a:off x="4471820" y="2113213"/>
            <a:ext cx="0" cy="11983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>
            <a:stCxn id="4" idx="5"/>
            <a:endCxn id="8" idx="0"/>
          </p:cNvCxnSpPr>
          <p:nvPr/>
        </p:nvCxnSpPr>
        <p:spPr>
          <a:xfrm>
            <a:off x="4726407" y="2007760"/>
            <a:ext cx="1379679" cy="12840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>
            <a:stCxn id="4" idx="6"/>
            <a:endCxn id="7" idx="0"/>
          </p:cNvCxnSpPr>
          <p:nvPr/>
        </p:nvCxnSpPr>
        <p:spPr>
          <a:xfrm>
            <a:off x="4831860" y="1753173"/>
            <a:ext cx="2908492" cy="15584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4932040" y="1463971"/>
            <a:ext cx="170505" cy="17050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1868075" y="3311577"/>
            <a:ext cx="170505" cy="17050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3292361" y="3311577"/>
            <a:ext cx="170505" cy="17050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4926627" y="3311578"/>
            <a:ext cx="170505" cy="1705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6560893" y="3312063"/>
            <a:ext cx="170505" cy="17050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8249958" y="3311580"/>
            <a:ext cx="170505" cy="170505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5097132" y="1463971"/>
            <a:ext cx="170505" cy="17050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5262224" y="1463970"/>
            <a:ext cx="170505" cy="1705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5432080" y="1463969"/>
            <a:ext cx="170505" cy="17050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5602585" y="1463969"/>
            <a:ext cx="170505" cy="170505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/>
          <p:cNvSpPr txBox="1"/>
          <p:nvPr/>
        </p:nvSpPr>
        <p:spPr>
          <a:xfrm>
            <a:off x="611560" y="175643"/>
            <a:ext cx="2129944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1800" dirty="0" smtClean="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MPI</a:t>
            </a:r>
            <a:endParaRPr lang="en-GB" altLang="zh-CN" sz="1800" dirty="0">
              <a:solidFill>
                <a:srgbClr val="000000">
                  <a:lumMod val="65000"/>
                  <a:lumOff val="3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5" name="Title 1"/>
          <p:cNvSpPr txBox="1"/>
          <p:nvPr/>
        </p:nvSpPr>
        <p:spPr>
          <a:xfrm>
            <a:off x="3673296" y="554150"/>
            <a:ext cx="1844036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err="1" smtClean="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MPI_Gather</a:t>
            </a:r>
            <a:endParaRPr lang="en-GB" altLang="zh-CN" sz="2400" b="1" dirty="0">
              <a:solidFill>
                <a:srgbClr val="000000">
                  <a:lumMod val="65000"/>
                  <a:lumOff val="3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4111780" y="1393133"/>
            <a:ext cx="720080" cy="720080"/>
          </a:xfrm>
          <a:prstGeom prst="ellipse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rgbClr val="000000"/>
                </a:solidFill>
              </a:rPr>
              <a:t>0</a:t>
            </a:r>
            <a:endParaRPr lang="zh-CN" altLang="en-US" dirty="0">
              <a:solidFill>
                <a:srgbClr val="000000"/>
              </a:solidFill>
            </a:endParaRPr>
          </a:p>
        </p:txBody>
      </p:sp>
      <p:sp>
        <p:nvSpPr>
          <p:cNvPr id="5" name="椭圆 4"/>
          <p:cNvSpPr/>
          <p:nvPr/>
        </p:nvSpPr>
        <p:spPr>
          <a:xfrm>
            <a:off x="1053228" y="3291830"/>
            <a:ext cx="720080" cy="720080"/>
          </a:xfrm>
          <a:prstGeom prst="ellipse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rgbClr val="000000"/>
                </a:solidFill>
              </a:rPr>
              <a:t>0</a:t>
            </a:r>
            <a:endParaRPr lang="zh-CN" altLang="en-US" dirty="0">
              <a:solidFill>
                <a:srgbClr val="000000"/>
              </a:solidFill>
            </a:endParaRPr>
          </a:p>
        </p:txBody>
      </p:sp>
      <p:sp>
        <p:nvSpPr>
          <p:cNvPr id="6" name="椭圆 5"/>
          <p:cNvSpPr/>
          <p:nvPr/>
        </p:nvSpPr>
        <p:spPr>
          <a:xfrm>
            <a:off x="4111780" y="3311581"/>
            <a:ext cx="720080" cy="720080"/>
          </a:xfrm>
          <a:prstGeom prst="ellipse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rgbClr val="000000"/>
                </a:solidFill>
              </a:rPr>
              <a:t>2</a:t>
            </a:r>
            <a:endParaRPr lang="zh-CN" altLang="en-US" dirty="0">
              <a:solidFill>
                <a:srgbClr val="000000"/>
              </a:solidFill>
            </a:endParaRPr>
          </a:p>
        </p:txBody>
      </p:sp>
      <p:sp>
        <p:nvSpPr>
          <p:cNvPr id="7" name="椭圆 6"/>
          <p:cNvSpPr/>
          <p:nvPr/>
        </p:nvSpPr>
        <p:spPr>
          <a:xfrm>
            <a:off x="7380312" y="3311581"/>
            <a:ext cx="720080" cy="720080"/>
          </a:xfrm>
          <a:prstGeom prst="ellipse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rgbClr val="000000"/>
                </a:solidFill>
              </a:rPr>
              <a:t>4</a:t>
            </a:r>
            <a:endParaRPr lang="zh-CN" altLang="en-US" dirty="0">
              <a:solidFill>
                <a:srgbClr val="000000"/>
              </a:solidFill>
            </a:endParaRPr>
          </a:p>
        </p:txBody>
      </p:sp>
      <p:sp>
        <p:nvSpPr>
          <p:cNvPr id="8" name="椭圆 7"/>
          <p:cNvSpPr/>
          <p:nvPr/>
        </p:nvSpPr>
        <p:spPr>
          <a:xfrm>
            <a:off x="5746046" y="3291830"/>
            <a:ext cx="720080" cy="720080"/>
          </a:xfrm>
          <a:prstGeom prst="ellipse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rgbClr val="000000"/>
                </a:solidFill>
              </a:rPr>
              <a:t>3</a:t>
            </a:r>
            <a:endParaRPr lang="zh-CN" altLang="en-US" dirty="0">
              <a:solidFill>
                <a:srgbClr val="000000"/>
              </a:solidFill>
            </a:endParaRPr>
          </a:p>
        </p:txBody>
      </p:sp>
      <p:sp>
        <p:nvSpPr>
          <p:cNvPr id="9" name="椭圆 8"/>
          <p:cNvSpPr/>
          <p:nvPr/>
        </p:nvSpPr>
        <p:spPr>
          <a:xfrm>
            <a:off x="2477514" y="3291830"/>
            <a:ext cx="720080" cy="720080"/>
          </a:xfrm>
          <a:prstGeom prst="ellipse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rgbClr val="000000"/>
                </a:solidFill>
              </a:rPr>
              <a:t>1</a:t>
            </a:r>
            <a:endParaRPr lang="zh-CN" altLang="en-US" dirty="0">
              <a:solidFill>
                <a:srgbClr val="000000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932040" y="1463971"/>
            <a:ext cx="170505" cy="17050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868075" y="3311577"/>
            <a:ext cx="170505" cy="17050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292361" y="3311577"/>
            <a:ext cx="170505" cy="17050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4926627" y="3311578"/>
            <a:ext cx="170505" cy="1705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6560893" y="3312063"/>
            <a:ext cx="170505" cy="17050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8249958" y="3311580"/>
            <a:ext cx="170505" cy="170505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5097132" y="1463971"/>
            <a:ext cx="170505" cy="17050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5262224" y="1463970"/>
            <a:ext cx="170505" cy="1705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5432080" y="1463969"/>
            <a:ext cx="170505" cy="17050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5602585" y="1463969"/>
            <a:ext cx="170505" cy="170505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cxnSp>
        <p:nvCxnSpPr>
          <p:cNvPr id="3" name="直接箭头连接符 2"/>
          <p:cNvCxnSpPr>
            <a:stCxn id="5" idx="0"/>
            <a:endCxn id="4" idx="2"/>
          </p:cNvCxnSpPr>
          <p:nvPr/>
        </p:nvCxnSpPr>
        <p:spPr>
          <a:xfrm flipV="1">
            <a:off x="1413268" y="1753173"/>
            <a:ext cx="2698512" cy="15386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>
            <a:stCxn id="9" idx="0"/>
            <a:endCxn id="4" idx="3"/>
          </p:cNvCxnSpPr>
          <p:nvPr/>
        </p:nvCxnSpPr>
        <p:spPr>
          <a:xfrm flipV="1">
            <a:off x="2837554" y="2007760"/>
            <a:ext cx="1379679" cy="12840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>
            <a:stCxn id="6" idx="0"/>
            <a:endCxn id="4" idx="4"/>
          </p:cNvCxnSpPr>
          <p:nvPr/>
        </p:nvCxnSpPr>
        <p:spPr>
          <a:xfrm flipV="1">
            <a:off x="4471820" y="2113213"/>
            <a:ext cx="0" cy="11983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>
            <a:stCxn id="8" idx="0"/>
            <a:endCxn id="4" idx="5"/>
          </p:cNvCxnSpPr>
          <p:nvPr/>
        </p:nvCxnSpPr>
        <p:spPr>
          <a:xfrm flipH="1" flipV="1">
            <a:off x="4726407" y="2007760"/>
            <a:ext cx="1379679" cy="12840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>
            <a:stCxn id="7" idx="0"/>
            <a:endCxn id="4" idx="6"/>
          </p:cNvCxnSpPr>
          <p:nvPr/>
        </p:nvCxnSpPr>
        <p:spPr>
          <a:xfrm flipH="1" flipV="1">
            <a:off x="4831860" y="1753173"/>
            <a:ext cx="2908492" cy="15584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push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48"/>
          <p:cNvSpPr txBox="1"/>
          <p:nvPr/>
        </p:nvSpPr>
        <p:spPr>
          <a:xfrm>
            <a:off x="3341432" y="2643758"/>
            <a:ext cx="2644582" cy="6771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z="4400" dirty="0" err="1" smtClean="0">
                <a:solidFill>
                  <a:srgbClr val="000000">
                    <a:lumMod val="65000"/>
                    <a:lumOff val="35000"/>
                  </a:srgbClr>
                </a:solidFill>
                <a:cs typeface="+mn-ea"/>
                <a:sym typeface="+mn-lt"/>
              </a:rPr>
              <a:t>pKmeans</a:t>
            </a:r>
            <a:endParaRPr lang="en-GB" altLang="zh-CN" sz="4400" dirty="0">
              <a:solidFill>
                <a:srgbClr val="000000">
                  <a:lumMod val="65000"/>
                  <a:lumOff val="35000"/>
                </a:srgbClr>
              </a:solidFill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4032064" y="1206537"/>
            <a:ext cx="1116000" cy="1080120"/>
            <a:chOff x="4032064" y="1206537"/>
            <a:chExt cx="1116000" cy="1080120"/>
          </a:xfrm>
        </p:grpSpPr>
        <p:sp>
          <p:nvSpPr>
            <p:cNvPr id="9" name="矩形 8"/>
            <p:cNvSpPr/>
            <p:nvPr/>
          </p:nvSpPr>
          <p:spPr>
            <a:xfrm>
              <a:off x="4032064" y="1206537"/>
              <a:ext cx="1080120" cy="108012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64" name="TextBox 48"/>
            <p:cNvSpPr txBox="1"/>
            <p:nvPr/>
          </p:nvSpPr>
          <p:spPr>
            <a:xfrm>
              <a:off x="4179383" y="1308705"/>
              <a:ext cx="968681" cy="83099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5400" dirty="0" smtClean="0">
                  <a:solidFill>
                    <a:srgbClr val="FFFFFF"/>
                  </a:solidFill>
                  <a:cs typeface="+mn-ea"/>
                  <a:sym typeface="+mn-lt"/>
                </a:rPr>
                <a:t>02</a:t>
              </a:r>
              <a:endParaRPr lang="en-GB" altLang="zh-CN" sz="5400" dirty="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p:transition spd="med">
    <p:push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/>
          <p:cNvSpPr txBox="1"/>
          <p:nvPr/>
        </p:nvSpPr>
        <p:spPr>
          <a:xfrm>
            <a:off x="611560" y="175643"/>
            <a:ext cx="1080120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1800" dirty="0" err="1" smtClean="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pKmeans</a:t>
            </a:r>
            <a:endParaRPr lang="en-GB" altLang="zh-CN" sz="1800" dirty="0">
              <a:solidFill>
                <a:srgbClr val="000000">
                  <a:lumMod val="65000"/>
                  <a:lumOff val="3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2100277" y="527989"/>
            <a:ext cx="2632573" cy="432000"/>
          </a:xfrm>
          <a:prstGeom prst="roundRect">
            <a:avLst/>
          </a:prstGeom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读取图片</a:t>
            </a:r>
            <a:endParaRPr lang="zh-CN" altLang="en-US" dirty="0"/>
          </a:p>
        </p:txBody>
      </p:sp>
      <p:sp>
        <p:nvSpPr>
          <p:cNvPr id="10" name="圆角矩形 9"/>
          <p:cNvSpPr/>
          <p:nvPr/>
        </p:nvSpPr>
        <p:spPr>
          <a:xfrm>
            <a:off x="2100277" y="1053106"/>
            <a:ext cx="2632573" cy="432000"/>
          </a:xfrm>
          <a:prstGeom prst="roundRect">
            <a:avLst/>
          </a:prstGeom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分发数据</a:t>
            </a:r>
            <a:endParaRPr lang="zh-CN" altLang="en-US" dirty="0"/>
          </a:p>
        </p:txBody>
      </p:sp>
      <p:sp>
        <p:nvSpPr>
          <p:cNvPr id="17" name="圆角矩形 16"/>
          <p:cNvSpPr/>
          <p:nvPr/>
        </p:nvSpPr>
        <p:spPr>
          <a:xfrm>
            <a:off x="5284739" y="1577532"/>
            <a:ext cx="2627725" cy="432000"/>
          </a:xfrm>
          <a:prstGeom prst="roundRect">
            <a:avLst/>
          </a:prstGeom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计算距离并比较</a:t>
            </a:r>
            <a:endParaRPr lang="zh-CN" altLang="en-US" dirty="0"/>
          </a:p>
        </p:txBody>
      </p:sp>
      <p:sp>
        <p:nvSpPr>
          <p:cNvPr id="18" name="圆角矩形 17"/>
          <p:cNvSpPr/>
          <p:nvPr/>
        </p:nvSpPr>
        <p:spPr>
          <a:xfrm>
            <a:off x="5298194" y="2101958"/>
            <a:ext cx="2614269" cy="432000"/>
          </a:xfrm>
          <a:prstGeom prst="roundRect">
            <a:avLst/>
          </a:prstGeom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存储最小距离中心索引</a:t>
            </a:r>
            <a:endParaRPr lang="zh-CN" altLang="en-US" dirty="0"/>
          </a:p>
        </p:txBody>
      </p:sp>
      <p:sp>
        <p:nvSpPr>
          <p:cNvPr id="19" name="圆角矩形 18"/>
          <p:cNvSpPr/>
          <p:nvPr/>
        </p:nvSpPr>
        <p:spPr>
          <a:xfrm>
            <a:off x="5300628" y="2618510"/>
            <a:ext cx="2611835" cy="432000"/>
          </a:xfrm>
          <a:prstGeom prst="roundRect">
            <a:avLst/>
          </a:prstGeom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返回索引数量</a:t>
            </a:r>
            <a:endParaRPr lang="zh-CN" altLang="en-US" dirty="0"/>
          </a:p>
        </p:txBody>
      </p:sp>
      <p:sp>
        <p:nvSpPr>
          <p:cNvPr id="20" name="圆角矩形 19"/>
          <p:cNvSpPr/>
          <p:nvPr/>
        </p:nvSpPr>
        <p:spPr>
          <a:xfrm>
            <a:off x="2100276" y="2618510"/>
            <a:ext cx="2632573" cy="432000"/>
          </a:xfrm>
          <a:prstGeom prst="roundRect">
            <a:avLst/>
          </a:prstGeom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收集索引数量</a:t>
            </a:r>
            <a:endParaRPr lang="zh-CN" altLang="en-US" dirty="0"/>
          </a:p>
        </p:txBody>
      </p:sp>
      <p:sp>
        <p:nvSpPr>
          <p:cNvPr id="21" name="圆角矩形 20"/>
          <p:cNvSpPr/>
          <p:nvPr/>
        </p:nvSpPr>
        <p:spPr>
          <a:xfrm>
            <a:off x="2103708" y="3665691"/>
            <a:ext cx="2629141" cy="432000"/>
          </a:xfrm>
          <a:prstGeom prst="roundRect">
            <a:avLst/>
          </a:prstGeom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检查</a:t>
            </a:r>
            <a:endParaRPr lang="zh-CN" altLang="en-US" dirty="0"/>
          </a:p>
        </p:txBody>
      </p:sp>
      <p:sp>
        <p:nvSpPr>
          <p:cNvPr id="22" name="圆角矩形 21"/>
          <p:cNvSpPr/>
          <p:nvPr/>
        </p:nvSpPr>
        <p:spPr>
          <a:xfrm>
            <a:off x="2100277" y="1579026"/>
            <a:ext cx="2632573" cy="432000"/>
          </a:xfrm>
          <a:prstGeom prst="roundRect">
            <a:avLst/>
          </a:prstGeom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广播中心</a:t>
            </a:r>
            <a:endParaRPr lang="zh-CN" altLang="en-US" dirty="0"/>
          </a:p>
        </p:txBody>
      </p:sp>
      <p:sp>
        <p:nvSpPr>
          <p:cNvPr id="25" name="圆角矩形 24"/>
          <p:cNvSpPr/>
          <p:nvPr/>
        </p:nvSpPr>
        <p:spPr>
          <a:xfrm>
            <a:off x="5279119" y="1053106"/>
            <a:ext cx="2633345" cy="432000"/>
          </a:xfrm>
          <a:prstGeom prst="roundRect">
            <a:avLst/>
          </a:prstGeom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接受数据</a:t>
            </a:r>
            <a:endParaRPr lang="zh-CN" altLang="en-US" dirty="0"/>
          </a:p>
        </p:txBody>
      </p:sp>
      <p:cxnSp>
        <p:nvCxnSpPr>
          <p:cNvPr id="6" name="直接连接符 5"/>
          <p:cNvCxnSpPr/>
          <p:nvPr/>
        </p:nvCxnSpPr>
        <p:spPr>
          <a:xfrm>
            <a:off x="4930255" y="382362"/>
            <a:ext cx="0" cy="4700363"/>
          </a:xfrm>
          <a:prstGeom prst="line">
            <a:avLst/>
          </a:prstGeom>
          <a:ln w="22225">
            <a:solidFill>
              <a:srgbClr val="59595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itle 1"/>
          <p:cNvSpPr txBox="1"/>
          <p:nvPr/>
        </p:nvSpPr>
        <p:spPr>
          <a:xfrm>
            <a:off x="2921364" y="148512"/>
            <a:ext cx="926958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主进程</a:t>
            </a:r>
            <a:endParaRPr lang="en-GB" altLang="zh-CN" sz="2400" b="1" dirty="0">
              <a:solidFill>
                <a:srgbClr val="000000">
                  <a:lumMod val="65000"/>
                  <a:lumOff val="3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7" name="Title 1"/>
          <p:cNvSpPr txBox="1"/>
          <p:nvPr/>
        </p:nvSpPr>
        <p:spPr>
          <a:xfrm>
            <a:off x="6300192" y="175642"/>
            <a:ext cx="926958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子进程</a:t>
            </a:r>
            <a:endParaRPr lang="en-GB" altLang="zh-CN" sz="2400" b="1" dirty="0">
              <a:solidFill>
                <a:srgbClr val="000000">
                  <a:lumMod val="65000"/>
                  <a:lumOff val="3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cxnSp>
        <p:nvCxnSpPr>
          <p:cNvPr id="8" name="直接箭头连接符 7"/>
          <p:cNvCxnSpPr>
            <a:stCxn id="10" idx="3"/>
            <a:endCxn id="25" idx="1"/>
          </p:cNvCxnSpPr>
          <p:nvPr/>
        </p:nvCxnSpPr>
        <p:spPr>
          <a:xfrm>
            <a:off x="4732850" y="1269106"/>
            <a:ext cx="546269" cy="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>
            <a:stCxn id="22" idx="3"/>
            <a:endCxn id="17" idx="1"/>
          </p:cNvCxnSpPr>
          <p:nvPr/>
        </p:nvCxnSpPr>
        <p:spPr>
          <a:xfrm flipV="1">
            <a:off x="4732850" y="1793532"/>
            <a:ext cx="551889" cy="1494"/>
          </a:xfrm>
          <a:prstGeom prst="straightConnector1">
            <a:avLst/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>
            <a:stCxn id="19" idx="1"/>
            <a:endCxn id="20" idx="3"/>
          </p:cNvCxnSpPr>
          <p:nvPr/>
        </p:nvCxnSpPr>
        <p:spPr>
          <a:xfrm flipH="1">
            <a:off x="4732849" y="2834510"/>
            <a:ext cx="567779" cy="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3" name="肘形连接符 32"/>
          <p:cNvCxnSpPr>
            <a:stCxn id="21" idx="1"/>
            <a:endCxn id="22" idx="1"/>
          </p:cNvCxnSpPr>
          <p:nvPr/>
        </p:nvCxnSpPr>
        <p:spPr>
          <a:xfrm rot="10800000">
            <a:off x="2100278" y="1795027"/>
            <a:ext cx="3431" cy="2086665"/>
          </a:xfrm>
          <a:prstGeom prst="bentConnector3">
            <a:avLst>
              <a:gd name="adj1" fmla="val 6762781"/>
            </a:avLst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5" name="圆角矩形 34"/>
          <p:cNvSpPr/>
          <p:nvPr/>
        </p:nvSpPr>
        <p:spPr>
          <a:xfrm>
            <a:off x="2100276" y="3144430"/>
            <a:ext cx="2632573" cy="432000"/>
          </a:xfrm>
          <a:prstGeom prst="roundRect">
            <a:avLst/>
          </a:prstGeom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更新中心</a:t>
            </a:r>
            <a:endParaRPr lang="zh-CN" altLang="en-US" dirty="0"/>
          </a:p>
        </p:txBody>
      </p:sp>
      <p:sp>
        <p:nvSpPr>
          <p:cNvPr id="36" name="圆角矩形 35"/>
          <p:cNvSpPr/>
          <p:nvPr/>
        </p:nvSpPr>
        <p:spPr>
          <a:xfrm>
            <a:off x="2130196" y="4702137"/>
            <a:ext cx="2581050" cy="432000"/>
          </a:xfrm>
          <a:prstGeom prst="roundRect">
            <a:avLst/>
          </a:prstGeom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输出</a:t>
            </a:r>
            <a:endParaRPr lang="zh-CN" altLang="en-US" dirty="0"/>
          </a:p>
        </p:txBody>
      </p:sp>
      <p:sp>
        <p:nvSpPr>
          <p:cNvPr id="71" name="圆角矩形 70"/>
          <p:cNvSpPr/>
          <p:nvPr/>
        </p:nvSpPr>
        <p:spPr>
          <a:xfrm>
            <a:off x="2126037" y="4183914"/>
            <a:ext cx="2581050" cy="432000"/>
          </a:xfrm>
          <a:prstGeom prst="roundRect">
            <a:avLst/>
          </a:prstGeom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收集索引值</a:t>
            </a:r>
            <a:endParaRPr lang="zh-CN" altLang="en-US" dirty="0"/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/>
          <p:cNvSpPr txBox="1"/>
          <p:nvPr/>
        </p:nvSpPr>
        <p:spPr>
          <a:xfrm>
            <a:off x="611560" y="175643"/>
            <a:ext cx="1080120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1800" dirty="0" err="1" smtClean="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pKmeans</a:t>
            </a:r>
            <a:endParaRPr lang="en-GB" altLang="zh-CN" sz="1800" dirty="0">
              <a:solidFill>
                <a:srgbClr val="000000">
                  <a:lumMod val="65000"/>
                  <a:lumOff val="3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1259632" y="555120"/>
            <a:ext cx="1800200" cy="64807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距离中心</a:t>
            </a:r>
            <a:endParaRPr lang="zh-CN" altLang="en-US" dirty="0"/>
          </a:p>
        </p:txBody>
      </p:sp>
      <p:sp>
        <p:nvSpPr>
          <p:cNvPr id="23" name="圆角矩形 22"/>
          <p:cNvSpPr/>
          <p:nvPr/>
        </p:nvSpPr>
        <p:spPr>
          <a:xfrm>
            <a:off x="1259632" y="1563232"/>
            <a:ext cx="1800200" cy="64807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像素点</a:t>
            </a:r>
            <a:endParaRPr lang="zh-CN" altLang="en-US" dirty="0"/>
          </a:p>
        </p:txBody>
      </p:sp>
      <p:sp>
        <p:nvSpPr>
          <p:cNvPr id="5" name="右大括号 4"/>
          <p:cNvSpPr/>
          <p:nvPr/>
        </p:nvSpPr>
        <p:spPr>
          <a:xfrm>
            <a:off x="3203848" y="699136"/>
            <a:ext cx="360040" cy="1368152"/>
          </a:xfrm>
          <a:prstGeom prst="rightBrace">
            <a:avLst>
              <a:gd name="adj1" fmla="val 46813"/>
              <a:gd name="adj2" fmla="val 50000"/>
            </a:avLst>
          </a:prstGeom>
          <a:ln cap="rnd">
            <a:solidFill>
              <a:schemeClr val="accent2"/>
            </a:solidFill>
            <a:round/>
            <a:headEnd type="none" w="sm" len="med"/>
            <a:tailEnd type="non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Title 1"/>
          <p:cNvSpPr txBox="1"/>
          <p:nvPr/>
        </p:nvSpPr>
        <p:spPr>
          <a:xfrm>
            <a:off x="3709670" y="1183640"/>
            <a:ext cx="2145665" cy="379730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err="1" smtClean="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GetIndex</a:t>
            </a:r>
            <a:r>
              <a:rPr lang="en-US" altLang="zh-CN" sz="2400" b="1" dirty="0" smtClean="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( )</a:t>
            </a:r>
            <a:endParaRPr lang="en-GB" altLang="zh-CN" sz="2400" b="1" dirty="0">
              <a:solidFill>
                <a:srgbClr val="000000">
                  <a:lumMod val="65000"/>
                  <a:lumOff val="3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0" name="圆角矩形 29"/>
          <p:cNvSpPr/>
          <p:nvPr/>
        </p:nvSpPr>
        <p:spPr>
          <a:xfrm>
            <a:off x="6228184" y="1049457"/>
            <a:ext cx="1800200" cy="648072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索引值</a:t>
            </a:r>
            <a:endParaRPr lang="zh-CN" altLang="en-US" dirty="0"/>
          </a:p>
        </p:txBody>
      </p:sp>
      <p:cxnSp>
        <p:nvCxnSpPr>
          <p:cNvPr id="12" name="直接箭头连接符 11"/>
          <p:cNvCxnSpPr>
            <a:stCxn id="28" idx="3"/>
            <a:endCxn id="30" idx="1"/>
          </p:cNvCxnSpPr>
          <p:nvPr/>
        </p:nvCxnSpPr>
        <p:spPr>
          <a:xfrm>
            <a:off x="5855300" y="1373494"/>
            <a:ext cx="372745" cy="6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5976156" y="3435440"/>
            <a:ext cx="2304256" cy="43204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索引序列</a:t>
            </a:r>
            <a:endParaRPr lang="zh-CN" altLang="en-US" dirty="0"/>
          </a:p>
        </p:txBody>
      </p:sp>
      <p:cxnSp>
        <p:nvCxnSpPr>
          <p:cNvPr id="16" name="直接箭头连接符 15"/>
          <p:cNvCxnSpPr>
            <a:stCxn id="30" idx="2"/>
            <a:endCxn id="14" idx="0"/>
          </p:cNvCxnSpPr>
          <p:nvPr/>
        </p:nvCxnSpPr>
        <p:spPr>
          <a:xfrm>
            <a:off x="7128284" y="1697529"/>
            <a:ext cx="0" cy="17379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8" name="矩形 37"/>
          <p:cNvSpPr/>
          <p:nvPr/>
        </p:nvSpPr>
        <p:spPr>
          <a:xfrm>
            <a:off x="1187624" y="3003392"/>
            <a:ext cx="2304256" cy="432048"/>
          </a:xfrm>
          <a:prstGeom prst="rect">
            <a:avLst/>
          </a:prstGeom>
          <a:solidFill>
            <a:srgbClr val="0070C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1187624" y="3435440"/>
            <a:ext cx="2304256" cy="432048"/>
          </a:xfrm>
          <a:prstGeom prst="rect">
            <a:avLst/>
          </a:prstGeom>
          <a:solidFill>
            <a:srgbClr val="0070C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二维</a:t>
            </a:r>
            <a:r>
              <a:rPr lang="zh-CN" altLang="en-US" dirty="0" smtClean="0"/>
              <a:t>索引图</a:t>
            </a:r>
            <a:endParaRPr lang="zh-CN" altLang="en-US" dirty="0"/>
          </a:p>
        </p:txBody>
      </p:sp>
      <p:sp>
        <p:nvSpPr>
          <p:cNvPr id="40" name="矩形 39"/>
          <p:cNvSpPr/>
          <p:nvPr/>
        </p:nvSpPr>
        <p:spPr>
          <a:xfrm>
            <a:off x="1187624" y="3868760"/>
            <a:ext cx="2304256" cy="432048"/>
          </a:xfrm>
          <a:prstGeom prst="rect">
            <a:avLst/>
          </a:prstGeom>
          <a:solidFill>
            <a:srgbClr val="0070C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1" name="矩形 40"/>
          <p:cNvSpPr/>
          <p:nvPr/>
        </p:nvSpPr>
        <p:spPr>
          <a:xfrm>
            <a:off x="1187624" y="4297054"/>
            <a:ext cx="2304256" cy="43204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2" name="矩形 41"/>
          <p:cNvSpPr/>
          <p:nvPr/>
        </p:nvSpPr>
        <p:spPr>
          <a:xfrm>
            <a:off x="1187624" y="2573826"/>
            <a:ext cx="2304256" cy="432048"/>
          </a:xfrm>
          <a:prstGeom prst="rect">
            <a:avLst/>
          </a:prstGeom>
          <a:solidFill>
            <a:srgbClr val="0070C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44" name="直接箭头连接符 43"/>
          <p:cNvCxnSpPr>
            <a:stCxn id="14" idx="1"/>
            <a:endCxn id="39" idx="3"/>
          </p:cNvCxnSpPr>
          <p:nvPr/>
        </p:nvCxnSpPr>
        <p:spPr>
          <a:xfrm flipH="1">
            <a:off x="3491880" y="3651464"/>
            <a:ext cx="248427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push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/>
          <p:cNvSpPr txBox="1"/>
          <p:nvPr/>
        </p:nvSpPr>
        <p:spPr>
          <a:xfrm>
            <a:off x="611560" y="175643"/>
            <a:ext cx="1080120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1800" dirty="0" err="1" smtClean="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pKmeans</a:t>
            </a:r>
            <a:endParaRPr lang="en-GB" altLang="zh-CN" sz="1800" dirty="0">
              <a:solidFill>
                <a:srgbClr val="000000">
                  <a:lumMod val="65000"/>
                  <a:lumOff val="3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736" y="382369"/>
            <a:ext cx="4824536" cy="4635338"/>
          </a:xfrm>
          <a:prstGeom prst="rect">
            <a:avLst/>
          </a:prstGeom>
        </p:spPr>
      </p:pic>
    </p:spTree>
  </p:cSld>
  <p:clrMapOvr>
    <a:masterClrMapping/>
  </p:clrMapOvr>
  <p:transition spd="med">
    <p:push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48"/>
          <p:cNvSpPr txBox="1"/>
          <p:nvPr/>
        </p:nvSpPr>
        <p:spPr>
          <a:xfrm>
            <a:off x="3665468" y="2643758"/>
            <a:ext cx="1996510" cy="6771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4400" dirty="0" smtClean="0">
                <a:solidFill>
                  <a:srgbClr val="000000">
                    <a:lumMod val="65000"/>
                    <a:lumOff val="35000"/>
                  </a:srgbClr>
                </a:solidFill>
                <a:cs typeface="+mn-ea"/>
                <a:sym typeface="+mn-lt"/>
              </a:rPr>
              <a:t>并行</a:t>
            </a:r>
            <a:r>
              <a:rPr lang="en-US" altLang="zh-CN" sz="4400" dirty="0" smtClean="0">
                <a:solidFill>
                  <a:srgbClr val="000000">
                    <a:lumMod val="65000"/>
                    <a:lumOff val="35000"/>
                  </a:srgbClr>
                </a:solidFill>
                <a:cs typeface="+mn-ea"/>
                <a:sym typeface="+mn-lt"/>
              </a:rPr>
              <a:t>IO</a:t>
            </a:r>
            <a:endParaRPr lang="en-GB" altLang="zh-CN" sz="4400" dirty="0">
              <a:solidFill>
                <a:srgbClr val="000000">
                  <a:lumMod val="65000"/>
                  <a:lumOff val="35000"/>
                </a:srgbClr>
              </a:solidFill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4032064" y="1206537"/>
            <a:ext cx="1116000" cy="1080120"/>
            <a:chOff x="4032064" y="1206537"/>
            <a:chExt cx="1116000" cy="1080120"/>
          </a:xfrm>
        </p:grpSpPr>
        <p:sp>
          <p:nvSpPr>
            <p:cNvPr id="9" name="矩形 8"/>
            <p:cNvSpPr/>
            <p:nvPr/>
          </p:nvSpPr>
          <p:spPr>
            <a:xfrm>
              <a:off x="4032064" y="1206537"/>
              <a:ext cx="1080120" cy="108012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64" name="TextBox 48"/>
            <p:cNvSpPr txBox="1"/>
            <p:nvPr/>
          </p:nvSpPr>
          <p:spPr>
            <a:xfrm>
              <a:off x="4179383" y="1308705"/>
              <a:ext cx="968681" cy="83099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5400" dirty="0" smtClean="0">
                  <a:solidFill>
                    <a:srgbClr val="FFFFFF"/>
                  </a:solidFill>
                  <a:cs typeface="+mn-ea"/>
                  <a:sym typeface="+mn-lt"/>
                </a:rPr>
                <a:t>03</a:t>
              </a:r>
              <a:endParaRPr lang="en-GB" altLang="zh-CN" sz="5400" dirty="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p:transition spd="med">
    <p:push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/>
          <p:cNvSpPr txBox="1"/>
          <p:nvPr/>
        </p:nvSpPr>
        <p:spPr>
          <a:xfrm>
            <a:off x="611560" y="175643"/>
            <a:ext cx="1080120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1800" dirty="0" smtClean="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并行</a:t>
            </a:r>
            <a:r>
              <a:rPr lang="en-US" altLang="zh-CN" sz="1800" smtClean="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IO</a:t>
            </a:r>
            <a:endParaRPr lang="en-GB" altLang="zh-CN" sz="1800" dirty="0">
              <a:solidFill>
                <a:srgbClr val="000000">
                  <a:lumMod val="65000"/>
                  <a:lumOff val="3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986854" y="981132"/>
            <a:ext cx="6048672" cy="526069"/>
          </a:xfrm>
          <a:prstGeom prst="rect">
            <a:avLst/>
          </a:prstGeom>
          <a:noFill/>
          <a:ln>
            <a:solidFill>
              <a:srgbClr val="FF0000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圆角矩形 22"/>
          <p:cNvSpPr/>
          <p:nvPr/>
        </p:nvSpPr>
        <p:spPr>
          <a:xfrm>
            <a:off x="2094729" y="502955"/>
            <a:ext cx="2632573" cy="432000"/>
          </a:xfrm>
          <a:prstGeom prst="roundRect">
            <a:avLst/>
          </a:prstGeom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读取图片</a:t>
            </a:r>
            <a:endParaRPr lang="zh-CN" altLang="en-US" dirty="0"/>
          </a:p>
        </p:txBody>
      </p:sp>
      <p:sp>
        <p:nvSpPr>
          <p:cNvPr id="28" name="圆角矩形 27"/>
          <p:cNvSpPr/>
          <p:nvPr/>
        </p:nvSpPr>
        <p:spPr>
          <a:xfrm>
            <a:off x="2094729" y="1028072"/>
            <a:ext cx="2632573" cy="432000"/>
          </a:xfrm>
          <a:prstGeom prst="roundRect">
            <a:avLst/>
          </a:prstGeom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分发数据</a:t>
            </a:r>
            <a:endParaRPr lang="zh-CN" altLang="en-US" dirty="0"/>
          </a:p>
        </p:txBody>
      </p:sp>
      <p:sp>
        <p:nvSpPr>
          <p:cNvPr id="30" name="圆角矩形 29"/>
          <p:cNvSpPr/>
          <p:nvPr/>
        </p:nvSpPr>
        <p:spPr>
          <a:xfrm>
            <a:off x="5279191" y="1552498"/>
            <a:ext cx="2627725" cy="432000"/>
          </a:xfrm>
          <a:prstGeom prst="roundRect">
            <a:avLst/>
          </a:prstGeom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计算距离并比较</a:t>
            </a:r>
            <a:endParaRPr lang="zh-CN" altLang="en-US" dirty="0"/>
          </a:p>
        </p:txBody>
      </p:sp>
      <p:sp>
        <p:nvSpPr>
          <p:cNvPr id="32" name="圆角矩形 31"/>
          <p:cNvSpPr/>
          <p:nvPr/>
        </p:nvSpPr>
        <p:spPr>
          <a:xfrm>
            <a:off x="5292646" y="2076924"/>
            <a:ext cx="2614269" cy="432000"/>
          </a:xfrm>
          <a:prstGeom prst="roundRect">
            <a:avLst/>
          </a:prstGeom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存储最小距离中心索引</a:t>
            </a:r>
            <a:endParaRPr lang="zh-CN" altLang="en-US" dirty="0"/>
          </a:p>
        </p:txBody>
      </p:sp>
      <p:sp>
        <p:nvSpPr>
          <p:cNvPr id="34" name="圆角矩形 33"/>
          <p:cNvSpPr/>
          <p:nvPr/>
        </p:nvSpPr>
        <p:spPr>
          <a:xfrm>
            <a:off x="5295080" y="2593476"/>
            <a:ext cx="2611835" cy="432000"/>
          </a:xfrm>
          <a:prstGeom prst="roundRect">
            <a:avLst/>
          </a:prstGeom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返回索引数量</a:t>
            </a:r>
            <a:endParaRPr lang="zh-CN" altLang="en-US" dirty="0"/>
          </a:p>
        </p:txBody>
      </p:sp>
      <p:sp>
        <p:nvSpPr>
          <p:cNvPr id="36" name="圆角矩形 35"/>
          <p:cNvSpPr/>
          <p:nvPr/>
        </p:nvSpPr>
        <p:spPr>
          <a:xfrm>
            <a:off x="2094728" y="2593476"/>
            <a:ext cx="2632573" cy="432000"/>
          </a:xfrm>
          <a:prstGeom prst="roundRect">
            <a:avLst/>
          </a:prstGeom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收集索引数量</a:t>
            </a:r>
            <a:endParaRPr lang="zh-CN" altLang="en-US" dirty="0"/>
          </a:p>
        </p:txBody>
      </p:sp>
      <p:sp>
        <p:nvSpPr>
          <p:cNvPr id="37" name="圆角矩形 36"/>
          <p:cNvSpPr/>
          <p:nvPr/>
        </p:nvSpPr>
        <p:spPr>
          <a:xfrm>
            <a:off x="2098160" y="3640657"/>
            <a:ext cx="2629141" cy="432000"/>
          </a:xfrm>
          <a:prstGeom prst="roundRect">
            <a:avLst/>
          </a:prstGeom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检查</a:t>
            </a:r>
            <a:endParaRPr lang="zh-CN" altLang="en-US" dirty="0"/>
          </a:p>
        </p:txBody>
      </p:sp>
      <p:sp>
        <p:nvSpPr>
          <p:cNvPr id="38" name="圆角矩形 37"/>
          <p:cNvSpPr/>
          <p:nvPr/>
        </p:nvSpPr>
        <p:spPr>
          <a:xfrm>
            <a:off x="2094729" y="1553992"/>
            <a:ext cx="2632573" cy="432000"/>
          </a:xfrm>
          <a:prstGeom prst="roundRect">
            <a:avLst/>
          </a:prstGeom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广播中心</a:t>
            </a:r>
            <a:endParaRPr lang="zh-CN" altLang="en-US" dirty="0"/>
          </a:p>
        </p:txBody>
      </p:sp>
      <p:sp>
        <p:nvSpPr>
          <p:cNvPr id="39" name="圆角矩形 38"/>
          <p:cNvSpPr/>
          <p:nvPr/>
        </p:nvSpPr>
        <p:spPr>
          <a:xfrm>
            <a:off x="5273571" y="1028072"/>
            <a:ext cx="2633345" cy="432000"/>
          </a:xfrm>
          <a:prstGeom prst="roundRect">
            <a:avLst/>
          </a:prstGeom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接受数据</a:t>
            </a:r>
            <a:endParaRPr lang="zh-CN" altLang="en-US" dirty="0"/>
          </a:p>
        </p:txBody>
      </p:sp>
      <p:cxnSp>
        <p:nvCxnSpPr>
          <p:cNvPr id="40" name="直接连接符 39"/>
          <p:cNvCxnSpPr/>
          <p:nvPr/>
        </p:nvCxnSpPr>
        <p:spPr>
          <a:xfrm>
            <a:off x="4924707" y="357328"/>
            <a:ext cx="0" cy="4700363"/>
          </a:xfrm>
          <a:prstGeom prst="line">
            <a:avLst/>
          </a:prstGeom>
          <a:ln w="22225">
            <a:solidFill>
              <a:srgbClr val="59595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itle 1"/>
          <p:cNvSpPr txBox="1"/>
          <p:nvPr/>
        </p:nvSpPr>
        <p:spPr>
          <a:xfrm>
            <a:off x="2915816" y="123478"/>
            <a:ext cx="926958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主进程</a:t>
            </a:r>
            <a:endParaRPr lang="en-GB" altLang="zh-CN" sz="2400" b="1" dirty="0">
              <a:solidFill>
                <a:srgbClr val="000000">
                  <a:lumMod val="65000"/>
                  <a:lumOff val="3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2" name="Title 1"/>
          <p:cNvSpPr txBox="1"/>
          <p:nvPr/>
        </p:nvSpPr>
        <p:spPr>
          <a:xfrm>
            <a:off x="6294644" y="150608"/>
            <a:ext cx="926958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子进程</a:t>
            </a:r>
            <a:endParaRPr lang="en-GB" altLang="zh-CN" sz="2400" b="1" dirty="0">
              <a:solidFill>
                <a:srgbClr val="000000">
                  <a:lumMod val="65000"/>
                  <a:lumOff val="3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cxnSp>
        <p:nvCxnSpPr>
          <p:cNvPr id="43" name="直接箭头连接符 42"/>
          <p:cNvCxnSpPr>
            <a:stCxn id="28" idx="3"/>
            <a:endCxn id="39" idx="1"/>
          </p:cNvCxnSpPr>
          <p:nvPr/>
        </p:nvCxnSpPr>
        <p:spPr>
          <a:xfrm>
            <a:off x="4727302" y="1244072"/>
            <a:ext cx="546269" cy="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4" name="直接箭头连接符 43"/>
          <p:cNvCxnSpPr>
            <a:stCxn id="38" idx="3"/>
            <a:endCxn id="30" idx="1"/>
          </p:cNvCxnSpPr>
          <p:nvPr/>
        </p:nvCxnSpPr>
        <p:spPr>
          <a:xfrm flipV="1">
            <a:off x="4727302" y="1768498"/>
            <a:ext cx="551889" cy="1494"/>
          </a:xfrm>
          <a:prstGeom prst="straightConnector1">
            <a:avLst/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>
            <a:stCxn id="34" idx="1"/>
            <a:endCxn id="36" idx="3"/>
          </p:cNvCxnSpPr>
          <p:nvPr/>
        </p:nvCxnSpPr>
        <p:spPr>
          <a:xfrm flipH="1">
            <a:off x="4727301" y="2809476"/>
            <a:ext cx="567779" cy="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6" name="肘形连接符 45"/>
          <p:cNvCxnSpPr>
            <a:stCxn id="37" idx="1"/>
            <a:endCxn id="38" idx="1"/>
          </p:cNvCxnSpPr>
          <p:nvPr/>
        </p:nvCxnSpPr>
        <p:spPr>
          <a:xfrm rot="10800000">
            <a:off x="2094730" y="1769993"/>
            <a:ext cx="3431" cy="2086665"/>
          </a:xfrm>
          <a:prstGeom prst="bentConnector3">
            <a:avLst>
              <a:gd name="adj1" fmla="val 6762781"/>
            </a:avLst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7" name="圆角矩形 46"/>
          <p:cNvSpPr/>
          <p:nvPr/>
        </p:nvSpPr>
        <p:spPr>
          <a:xfrm>
            <a:off x="2094728" y="3119396"/>
            <a:ext cx="2632573" cy="432000"/>
          </a:xfrm>
          <a:prstGeom prst="roundRect">
            <a:avLst/>
          </a:prstGeom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更新中心</a:t>
            </a:r>
            <a:endParaRPr lang="zh-CN" altLang="en-US" dirty="0"/>
          </a:p>
        </p:txBody>
      </p:sp>
      <p:sp>
        <p:nvSpPr>
          <p:cNvPr id="48" name="圆角矩形 47"/>
          <p:cNvSpPr/>
          <p:nvPr/>
        </p:nvSpPr>
        <p:spPr>
          <a:xfrm>
            <a:off x="2124648" y="4677103"/>
            <a:ext cx="2581050" cy="432000"/>
          </a:xfrm>
          <a:prstGeom prst="roundRect">
            <a:avLst/>
          </a:prstGeom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输出</a:t>
            </a:r>
            <a:endParaRPr lang="zh-CN" altLang="en-US" dirty="0"/>
          </a:p>
        </p:txBody>
      </p:sp>
      <p:sp>
        <p:nvSpPr>
          <p:cNvPr id="49" name="圆角矩形 48"/>
          <p:cNvSpPr/>
          <p:nvPr/>
        </p:nvSpPr>
        <p:spPr>
          <a:xfrm>
            <a:off x="2120489" y="4158880"/>
            <a:ext cx="2581050" cy="432000"/>
          </a:xfrm>
          <a:prstGeom prst="roundRect">
            <a:avLst/>
          </a:prstGeom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收集索引值</a:t>
            </a:r>
            <a:endParaRPr lang="zh-CN" altLang="en-US" dirty="0"/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/>
          <p:cNvSpPr txBox="1"/>
          <p:nvPr/>
        </p:nvSpPr>
        <p:spPr>
          <a:xfrm>
            <a:off x="611560" y="175643"/>
            <a:ext cx="1080120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1800" dirty="0" smtClean="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并行</a:t>
            </a:r>
            <a:r>
              <a:rPr lang="en-US" altLang="zh-CN" sz="1800" smtClean="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IO</a:t>
            </a:r>
            <a:endParaRPr lang="en-GB" altLang="zh-CN" sz="1800" dirty="0">
              <a:solidFill>
                <a:srgbClr val="000000">
                  <a:lumMod val="65000"/>
                  <a:lumOff val="3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1979712" y="921071"/>
            <a:ext cx="2632573" cy="432000"/>
          </a:xfrm>
          <a:prstGeom prst="roundRect">
            <a:avLst/>
          </a:prstGeom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读取图片信息头</a:t>
            </a:r>
            <a:endParaRPr lang="zh-CN" altLang="en-US" dirty="0"/>
          </a:p>
        </p:txBody>
      </p:sp>
      <p:sp>
        <p:nvSpPr>
          <p:cNvPr id="30" name="圆角矩形 29"/>
          <p:cNvSpPr/>
          <p:nvPr/>
        </p:nvSpPr>
        <p:spPr>
          <a:xfrm>
            <a:off x="5164174" y="1445497"/>
            <a:ext cx="2627725" cy="432000"/>
          </a:xfrm>
          <a:prstGeom prst="roundRect">
            <a:avLst/>
          </a:prstGeom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计算距离并比较</a:t>
            </a:r>
            <a:endParaRPr lang="zh-CN" altLang="en-US" dirty="0"/>
          </a:p>
        </p:txBody>
      </p:sp>
      <p:sp>
        <p:nvSpPr>
          <p:cNvPr id="32" name="圆角矩形 31"/>
          <p:cNvSpPr/>
          <p:nvPr/>
        </p:nvSpPr>
        <p:spPr>
          <a:xfrm>
            <a:off x="5177629" y="1969923"/>
            <a:ext cx="2614269" cy="432000"/>
          </a:xfrm>
          <a:prstGeom prst="roundRect">
            <a:avLst/>
          </a:prstGeom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存储最小距离中心索引</a:t>
            </a:r>
            <a:endParaRPr lang="zh-CN" altLang="en-US" dirty="0"/>
          </a:p>
        </p:txBody>
      </p:sp>
      <p:sp>
        <p:nvSpPr>
          <p:cNvPr id="34" name="圆角矩形 33"/>
          <p:cNvSpPr/>
          <p:nvPr/>
        </p:nvSpPr>
        <p:spPr>
          <a:xfrm>
            <a:off x="5180063" y="2486475"/>
            <a:ext cx="2611835" cy="432000"/>
          </a:xfrm>
          <a:prstGeom prst="roundRect">
            <a:avLst/>
          </a:prstGeom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返回索引数量</a:t>
            </a:r>
            <a:endParaRPr lang="zh-CN" altLang="en-US" dirty="0"/>
          </a:p>
        </p:txBody>
      </p:sp>
      <p:sp>
        <p:nvSpPr>
          <p:cNvPr id="37" name="圆角矩形 36"/>
          <p:cNvSpPr/>
          <p:nvPr/>
        </p:nvSpPr>
        <p:spPr>
          <a:xfrm>
            <a:off x="1979711" y="2486475"/>
            <a:ext cx="2632573" cy="432000"/>
          </a:xfrm>
          <a:prstGeom prst="roundRect">
            <a:avLst/>
          </a:prstGeom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收集索引数量</a:t>
            </a:r>
            <a:endParaRPr lang="zh-CN" altLang="en-US" dirty="0"/>
          </a:p>
        </p:txBody>
      </p:sp>
      <p:sp>
        <p:nvSpPr>
          <p:cNvPr id="38" name="圆角矩形 37"/>
          <p:cNvSpPr/>
          <p:nvPr/>
        </p:nvSpPr>
        <p:spPr>
          <a:xfrm>
            <a:off x="1983143" y="3533656"/>
            <a:ext cx="2629141" cy="432000"/>
          </a:xfrm>
          <a:prstGeom prst="roundRect">
            <a:avLst/>
          </a:prstGeom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检查</a:t>
            </a:r>
            <a:endParaRPr lang="zh-CN" altLang="en-US" dirty="0"/>
          </a:p>
        </p:txBody>
      </p:sp>
      <p:sp>
        <p:nvSpPr>
          <p:cNvPr id="39" name="圆角矩形 38"/>
          <p:cNvSpPr/>
          <p:nvPr/>
        </p:nvSpPr>
        <p:spPr>
          <a:xfrm>
            <a:off x="1979712" y="1446991"/>
            <a:ext cx="2632573" cy="432000"/>
          </a:xfrm>
          <a:prstGeom prst="roundRect">
            <a:avLst/>
          </a:prstGeom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广播中心</a:t>
            </a:r>
            <a:endParaRPr lang="zh-CN" altLang="en-US" dirty="0"/>
          </a:p>
        </p:txBody>
      </p:sp>
      <p:sp>
        <p:nvSpPr>
          <p:cNvPr id="40" name="圆角矩形 39"/>
          <p:cNvSpPr/>
          <p:nvPr/>
        </p:nvSpPr>
        <p:spPr>
          <a:xfrm>
            <a:off x="5158554" y="921071"/>
            <a:ext cx="2633345" cy="432000"/>
          </a:xfrm>
          <a:prstGeom prst="roundRect">
            <a:avLst/>
          </a:prstGeom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读取图片数据</a:t>
            </a:r>
            <a:endParaRPr lang="zh-CN" altLang="en-US" dirty="0"/>
          </a:p>
        </p:txBody>
      </p:sp>
      <p:cxnSp>
        <p:nvCxnSpPr>
          <p:cNvPr id="41" name="直接连接符 40"/>
          <p:cNvCxnSpPr/>
          <p:nvPr/>
        </p:nvCxnSpPr>
        <p:spPr>
          <a:xfrm>
            <a:off x="4809690" y="250327"/>
            <a:ext cx="0" cy="4700363"/>
          </a:xfrm>
          <a:prstGeom prst="line">
            <a:avLst/>
          </a:prstGeom>
          <a:ln w="22225">
            <a:solidFill>
              <a:srgbClr val="59595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itle 1"/>
          <p:cNvSpPr txBox="1"/>
          <p:nvPr/>
        </p:nvSpPr>
        <p:spPr>
          <a:xfrm>
            <a:off x="2800799" y="16477"/>
            <a:ext cx="926958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主进程</a:t>
            </a:r>
            <a:endParaRPr lang="en-GB" altLang="zh-CN" sz="2400" b="1" dirty="0">
              <a:solidFill>
                <a:srgbClr val="000000">
                  <a:lumMod val="65000"/>
                  <a:lumOff val="3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3" name="Title 1"/>
          <p:cNvSpPr txBox="1"/>
          <p:nvPr/>
        </p:nvSpPr>
        <p:spPr>
          <a:xfrm>
            <a:off x="6179627" y="43607"/>
            <a:ext cx="926958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子进程</a:t>
            </a:r>
            <a:endParaRPr lang="en-GB" altLang="zh-CN" sz="2400" b="1" dirty="0">
              <a:solidFill>
                <a:srgbClr val="000000">
                  <a:lumMod val="65000"/>
                  <a:lumOff val="3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cxnSp>
        <p:nvCxnSpPr>
          <p:cNvPr id="45" name="直接箭头连接符 44"/>
          <p:cNvCxnSpPr>
            <a:stCxn id="39" idx="3"/>
            <a:endCxn id="30" idx="1"/>
          </p:cNvCxnSpPr>
          <p:nvPr/>
        </p:nvCxnSpPr>
        <p:spPr>
          <a:xfrm flipV="1">
            <a:off x="4612285" y="1661497"/>
            <a:ext cx="551889" cy="1494"/>
          </a:xfrm>
          <a:prstGeom prst="straightConnector1">
            <a:avLst/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6" name="直接箭头连接符 45"/>
          <p:cNvCxnSpPr>
            <a:stCxn id="34" idx="1"/>
            <a:endCxn id="37" idx="3"/>
          </p:cNvCxnSpPr>
          <p:nvPr/>
        </p:nvCxnSpPr>
        <p:spPr>
          <a:xfrm flipH="1">
            <a:off x="4612284" y="2702475"/>
            <a:ext cx="567779" cy="0"/>
          </a:xfrm>
          <a:prstGeom prst="straightConnector1">
            <a:avLst/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7" name="肘形连接符 46"/>
          <p:cNvCxnSpPr>
            <a:stCxn id="38" idx="1"/>
            <a:endCxn id="39" idx="1"/>
          </p:cNvCxnSpPr>
          <p:nvPr/>
        </p:nvCxnSpPr>
        <p:spPr>
          <a:xfrm rot="10800000">
            <a:off x="1979713" y="1662992"/>
            <a:ext cx="3431" cy="2086665"/>
          </a:xfrm>
          <a:prstGeom prst="bentConnector3">
            <a:avLst>
              <a:gd name="adj1" fmla="val 6762781"/>
            </a:avLst>
          </a:prstGeom>
          <a:ln>
            <a:tailEnd type="triangle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8" name="圆角矩形 47"/>
          <p:cNvSpPr/>
          <p:nvPr/>
        </p:nvSpPr>
        <p:spPr>
          <a:xfrm>
            <a:off x="1979711" y="3012395"/>
            <a:ext cx="2632573" cy="432000"/>
          </a:xfrm>
          <a:prstGeom prst="roundRect">
            <a:avLst/>
          </a:prstGeom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更新中心</a:t>
            </a:r>
            <a:endParaRPr lang="zh-CN" altLang="en-US" dirty="0"/>
          </a:p>
        </p:txBody>
      </p:sp>
      <p:sp>
        <p:nvSpPr>
          <p:cNvPr id="49" name="圆角矩形 48"/>
          <p:cNvSpPr/>
          <p:nvPr/>
        </p:nvSpPr>
        <p:spPr>
          <a:xfrm>
            <a:off x="2009631" y="4570102"/>
            <a:ext cx="2581050" cy="432000"/>
          </a:xfrm>
          <a:prstGeom prst="roundRect">
            <a:avLst/>
          </a:prstGeom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输出</a:t>
            </a:r>
            <a:endParaRPr lang="zh-CN" altLang="en-US" dirty="0"/>
          </a:p>
        </p:txBody>
      </p:sp>
      <p:sp>
        <p:nvSpPr>
          <p:cNvPr id="50" name="圆角矩形 49"/>
          <p:cNvSpPr/>
          <p:nvPr/>
        </p:nvSpPr>
        <p:spPr>
          <a:xfrm>
            <a:off x="2005472" y="4051879"/>
            <a:ext cx="2581050" cy="432000"/>
          </a:xfrm>
          <a:prstGeom prst="roundRect">
            <a:avLst/>
          </a:prstGeom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收集索引值</a:t>
            </a:r>
            <a:endParaRPr lang="zh-CN" altLang="en-US" dirty="0"/>
          </a:p>
        </p:txBody>
      </p:sp>
      <p:cxnSp>
        <p:nvCxnSpPr>
          <p:cNvPr id="4" name="直接箭头连接符 3"/>
          <p:cNvCxnSpPr/>
          <p:nvPr/>
        </p:nvCxnSpPr>
        <p:spPr>
          <a:xfrm>
            <a:off x="3347864" y="483518"/>
            <a:ext cx="0" cy="4375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1" name="直接箭头连接符 50"/>
          <p:cNvCxnSpPr/>
          <p:nvPr/>
        </p:nvCxnSpPr>
        <p:spPr>
          <a:xfrm>
            <a:off x="6516216" y="483518"/>
            <a:ext cx="0" cy="4375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push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/>
          <p:cNvSpPr txBox="1"/>
          <p:nvPr/>
        </p:nvSpPr>
        <p:spPr>
          <a:xfrm>
            <a:off x="611560" y="175643"/>
            <a:ext cx="1080120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1800" dirty="0" smtClean="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BMP</a:t>
            </a:r>
            <a:r>
              <a:rPr lang="zh-CN" altLang="en-US" sz="1800" dirty="0" smtClean="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结构</a:t>
            </a:r>
            <a:endParaRPr lang="en-GB" altLang="zh-CN" sz="1800" dirty="0">
              <a:solidFill>
                <a:srgbClr val="000000">
                  <a:lumMod val="65000"/>
                  <a:lumOff val="3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339752" y="1059582"/>
            <a:ext cx="3168352" cy="329179"/>
          </a:xfrm>
          <a:prstGeom prst="rect">
            <a:avLst/>
          </a:prstGeom>
          <a:solidFill>
            <a:srgbClr val="008AF2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文件信息头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2339752" y="1707419"/>
            <a:ext cx="3168352" cy="424862"/>
          </a:xfrm>
          <a:prstGeom prst="rect">
            <a:avLst/>
          </a:prstGeom>
          <a:solidFill>
            <a:srgbClr val="007D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调色板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2339752" y="2132282"/>
            <a:ext cx="3168352" cy="2139666"/>
          </a:xfrm>
          <a:prstGeom prst="rect">
            <a:avLst/>
          </a:prstGeom>
          <a:solidFill>
            <a:srgbClr val="005A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图像索引数据</a:t>
            </a:r>
            <a:endParaRPr lang="zh-CN" altLang="en-US" dirty="0"/>
          </a:p>
        </p:txBody>
      </p:sp>
      <p:sp>
        <p:nvSpPr>
          <p:cNvPr id="23" name="Title 1"/>
          <p:cNvSpPr txBox="1"/>
          <p:nvPr/>
        </p:nvSpPr>
        <p:spPr>
          <a:xfrm>
            <a:off x="5623295" y="1033964"/>
            <a:ext cx="926958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endParaRPr lang="en-GB" altLang="zh-CN" sz="1800" b="1" dirty="0">
              <a:solidFill>
                <a:srgbClr val="000000">
                  <a:lumMod val="65000"/>
                  <a:lumOff val="3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" name="Title 1"/>
          <p:cNvSpPr txBox="1"/>
          <p:nvPr/>
        </p:nvSpPr>
        <p:spPr>
          <a:xfrm>
            <a:off x="5580112" y="1070103"/>
            <a:ext cx="1843383" cy="318658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1800" b="1" dirty="0" smtClean="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   14      </a:t>
            </a:r>
            <a:r>
              <a:rPr lang="zh-CN" altLang="en-US" sz="1800" b="1" dirty="0" smtClean="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字节</a:t>
            </a:r>
            <a:endParaRPr lang="en-GB" altLang="zh-CN" sz="1800" b="1" dirty="0">
              <a:solidFill>
                <a:srgbClr val="000000">
                  <a:lumMod val="65000"/>
                  <a:lumOff val="3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9" name="Title 1"/>
          <p:cNvSpPr txBox="1"/>
          <p:nvPr/>
        </p:nvSpPr>
        <p:spPr>
          <a:xfrm>
            <a:off x="5700569" y="1784276"/>
            <a:ext cx="1699368" cy="318658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1800" b="1" dirty="0" smtClean="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256 * 4  </a:t>
            </a:r>
            <a:r>
              <a:rPr lang="zh-CN" altLang="en-US" sz="1800" b="1" dirty="0" smtClean="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字节</a:t>
            </a:r>
            <a:endParaRPr lang="en-GB" altLang="zh-CN" sz="1800" b="1" dirty="0">
              <a:solidFill>
                <a:srgbClr val="000000">
                  <a:lumMod val="65000"/>
                  <a:lumOff val="3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5" name="Title 1"/>
          <p:cNvSpPr txBox="1"/>
          <p:nvPr/>
        </p:nvSpPr>
        <p:spPr>
          <a:xfrm>
            <a:off x="5700569" y="3127408"/>
            <a:ext cx="1699368" cy="318658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1800" b="1" dirty="0" smtClean="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一般不经压缩</a:t>
            </a:r>
            <a:endParaRPr lang="en-GB" altLang="zh-CN" sz="1800" b="1" dirty="0">
              <a:solidFill>
                <a:srgbClr val="000000">
                  <a:lumMod val="65000"/>
                  <a:lumOff val="3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2339752" y="1378240"/>
            <a:ext cx="3168352" cy="329179"/>
          </a:xfrm>
          <a:prstGeom prst="rect">
            <a:avLst/>
          </a:prstGeom>
          <a:solidFill>
            <a:srgbClr val="008AF2">
              <a:alpha val="8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图像信息头</a:t>
            </a:r>
            <a:endParaRPr lang="zh-CN" altLang="en-US" dirty="0"/>
          </a:p>
        </p:txBody>
      </p:sp>
      <p:sp>
        <p:nvSpPr>
          <p:cNvPr id="17" name="Title 1"/>
          <p:cNvSpPr txBox="1"/>
          <p:nvPr/>
        </p:nvSpPr>
        <p:spPr>
          <a:xfrm>
            <a:off x="5580112" y="1430172"/>
            <a:ext cx="1843383" cy="318658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1800" b="1" dirty="0" smtClean="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   40      </a:t>
            </a:r>
            <a:r>
              <a:rPr lang="zh-CN" altLang="en-US" sz="1800" b="1" dirty="0" smtClean="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字节</a:t>
            </a:r>
            <a:endParaRPr lang="en-GB" altLang="zh-CN" sz="1800" b="1" dirty="0">
              <a:solidFill>
                <a:srgbClr val="000000">
                  <a:lumMod val="65000"/>
                  <a:lumOff val="3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/>
          <p:cNvSpPr txBox="1"/>
          <p:nvPr/>
        </p:nvSpPr>
        <p:spPr>
          <a:xfrm>
            <a:off x="611560" y="175643"/>
            <a:ext cx="1080120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1800" dirty="0" smtClean="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TIFF</a:t>
            </a:r>
            <a:r>
              <a:rPr lang="zh-CN" altLang="en-US" sz="1800" dirty="0" smtClean="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结构</a:t>
            </a:r>
            <a:endParaRPr lang="en-GB" altLang="zh-CN" sz="1800" dirty="0">
              <a:solidFill>
                <a:srgbClr val="000000">
                  <a:lumMod val="65000"/>
                  <a:lumOff val="3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971600" y="3312403"/>
            <a:ext cx="3168352" cy="424862"/>
          </a:xfrm>
          <a:prstGeom prst="rect">
            <a:avLst/>
          </a:prstGeom>
          <a:solidFill>
            <a:srgbClr val="007D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图像文件目录</a:t>
            </a:r>
            <a:r>
              <a:rPr lang="en-US" altLang="zh-CN" dirty="0" smtClean="0"/>
              <a:t>(IFD)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971600" y="1172737"/>
            <a:ext cx="3168352" cy="2139666"/>
          </a:xfrm>
          <a:prstGeom prst="rect">
            <a:avLst/>
          </a:prstGeom>
          <a:solidFill>
            <a:srgbClr val="005A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图像数据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971600" y="843558"/>
            <a:ext cx="3168352" cy="329179"/>
          </a:xfrm>
          <a:prstGeom prst="rect">
            <a:avLst/>
          </a:prstGeom>
          <a:solidFill>
            <a:srgbClr val="008AF2">
              <a:alpha val="8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图像</a:t>
            </a:r>
            <a:r>
              <a:rPr lang="zh-CN" altLang="en-US" dirty="0"/>
              <a:t>文件</a:t>
            </a:r>
            <a:r>
              <a:rPr lang="zh-CN" altLang="en-US" dirty="0" smtClean="0"/>
              <a:t>头</a:t>
            </a:r>
            <a:r>
              <a:rPr lang="en-US" altLang="zh-CN" dirty="0" smtClean="0"/>
              <a:t>(IFH)</a:t>
            </a:r>
            <a:endParaRPr lang="zh-CN" altLang="en-US" dirty="0"/>
          </a:p>
        </p:txBody>
      </p:sp>
      <p:sp>
        <p:nvSpPr>
          <p:cNvPr id="2" name="左大括号 1"/>
          <p:cNvSpPr/>
          <p:nvPr/>
        </p:nvSpPr>
        <p:spPr>
          <a:xfrm>
            <a:off x="4211960" y="2984774"/>
            <a:ext cx="360040" cy="1080120"/>
          </a:xfrm>
          <a:prstGeom prst="leftBrace">
            <a:avLst>
              <a:gd name="adj1" fmla="val 37193"/>
              <a:gd name="adj2" fmla="val 50000"/>
            </a:avLst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4788024" y="2820184"/>
            <a:ext cx="3168352" cy="329179"/>
          </a:xfrm>
          <a:prstGeom prst="rect">
            <a:avLst/>
          </a:prstGeom>
          <a:solidFill>
            <a:srgbClr val="008AF2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目录项</a:t>
            </a:r>
            <a:r>
              <a:rPr lang="en-US" altLang="zh-CN" dirty="0" smtClean="0"/>
              <a:t>(DE)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4788024" y="3195752"/>
            <a:ext cx="3168352" cy="329179"/>
          </a:xfrm>
          <a:prstGeom prst="rect">
            <a:avLst/>
          </a:prstGeom>
          <a:solidFill>
            <a:srgbClr val="008AF2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目录项</a:t>
            </a:r>
            <a:r>
              <a:rPr lang="en-US" altLang="zh-CN" dirty="0"/>
              <a:t>(</a:t>
            </a:r>
            <a:r>
              <a:rPr lang="en-US" altLang="zh-CN" dirty="0" smtClean="0"/>
              <a:t>DE)</a:t>
            </a:r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4788024" y="4011910"/>
            <a:ext cx="3168352" cy="329179"/>
          </a:xfrm>
          <a:prstGeom prst="rect">
            <a:avLst/>
          </a:prstGeom>
          <a:solidFill>
            <a:srgbClr val="008AF2">
              <a:alpha val="5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目录项</a:t>
            </a:r>
            <a:r>
              <a:rPr lang="en-US" altLang="zh-CN" dirty="0"/>
              <a:t>(DE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6228184" y="3633189"/>
            <a:ext cx="553998" cy="36004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...</a:t>
            </a:r>
            <a:endParaRPr lang="zh-CN" altLang="en-US" sz="2400" dirty="0" smtClean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itle 1"/>
          <p:cNvSpPr txBox="1"/>
          <p:nvPr/>
        </p:nvSpPr>
        <p:spPr>
          <a:xfrm>
            <a:off x="4246240" y="854079"/>
            <a:ext cx="1699368" cy="318658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1800" b="1" dirty="0" smtClean="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8 </a:t>
            </a:r>
            <a:r>
              <a:rPr lang="zh-CN" altLang="en-US" sz="1800" b="1" dirty="0" smtClean="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字节</a:t>
            </a:r>
            <a:endParaRPr lang="en-GB" altLang="zh-CN" sz="1800" b="1" dirty="0">
              <a:solidFill>
                <a:srgbClr val="000000">
                  <a:lumMod val="65000"/>
                  <a:lumOff val="3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3" name="Title 1"/>
          <p:cNvSpPr txBox="1"/>
          <p:nvPr/>
        </p:nvSpPr>
        <p:spPr>
          <a:xfrm>
            <a:off x="8028384" y="2825444"/>
            <a:ext cx="936104" cy="318658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1800" b="1" dirty="0" smtClean="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 </a:t>
            </a:r>
            <a:r>
              <a:rPr lang="zh-CN" altLang="en-US" sz="1800" b="1" dirty="0" smtClean="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字节</a:t>
            </a:r>
            <a:endParaRPr lang="en-GB" altLang="zh-CN" sz="1800" b="1" dirty="0">
              <a:solidFill>
                <a:srgbClr val="000000">
                  <a:lumMod val="65000"/>
                  <a:lumOff val="3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4" name="Title 1"/>
          <p:cNvSpPr txBox="1"/>
          <p:nvPr/>
        </p:nvSpPr>
        <p:spPr>
          <a:xfrm>
            <a:off x="4246240" y="2009189"/>
            <a:ext cx="2197968" cy="318658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1800" b="1" dirty="0" smtClean="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一般经过压缩</a:t>
            </a:r>
            <a:r>
              <a:rPr lang="en-US" altLang="zh-CN" sz="1800" b="1" dirty="0" smtClean="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(LZW)</a:t>
            </a:r>
            <a:endParaRPr lang="en-GB" altLang="zh-CN" sz="1800" b="1" dirty="0">
              <a:solidFill>
                <a:srgbClr val="000000">
                  <a:lumMod val="65000"/>
                  <a:lumOff val="3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/>
          <p:cNvSpPr txBox="1"/>
          <p:nvPr/>
        </p:nvSpPr>
        <p:spPr>
          <a:xfrm>
            <a:off x="611560" y="175643"/>
            <a:ext cx="1080120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1800" dirty="0" smtClean="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MPI IO</a:t>
            </a:r>
            <a:endParaRPr lang="en-GB" altLang="zh-CN" sz="1800" dirty="0">
              <a:solidFill>
                <a:srgbClr val="000000">
                  <a:lumMod val="65000"/>
                  <a:lumOff val="3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1945134" y="1578017"/>
            <a:ext cx="2952328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err="1" smtClean="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MPI_File_read_at</a:t>
            </a:r>
            <a:endParaRPr lang="en-GB" altLang="zh-CN" sz="2400" b="1" dirty="0">
              <a:solidFill>
                <a:srgbClr val="000000">
                  <a:lumMod val="65000"/>
                  <a:lumOff val="3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Title 1"/>
          <p:cNvSpPr txBox="1"/>
          <p:nvPr/>
        </p:nvSpPr>
        <p:spPr>
          <a:xfrm>
            <a:off x="1945134" y="2324230"/>
            <a:ext cx="2952328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err="1" smtClean="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MPI_File_write_at</a:t>
            </a:r>
            <a:endParaRPr lang="en-GB" altLang="zh-CN" sz="2400" b="1" dirty="0">
              <a:solidFill>
                <a:srgbClr val="000000">
                  <a:lumMod val="65000"/>
                  <a:lumOff val="3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140076" y="3219822"/>
            <a:ext cx="1410708" cy="4320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3550784" y="3219822"/>
            <a:ext cx="1410708" cy="43204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4961492" y="3219822"/>
            <a:ext cx="1410708" cy="4320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936615" y="3219822"/>
            <a:ext cx="216024" cy="43204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6372200" y="3219822"/>
            <a:ext cx="1410708" cy="43204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箭头连接符 13"/>
          <p:cNvCxnSpPr/>
          <p:nvPr/>
        </p:nvCxnSpPr>
        <p:spPr>
          <a:xfrm flipV="1">
            <a:off x="2138331" y="3651870"/>
            <a:ext cx="0" cy="5040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 flipV="1">
            <a:off x="3550784" y="3651870"/>
            <a:ext cx="0" cy="5040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 flipV="1">
            <a:off x="4974054" y="3651870"/>
            <a:ext cx="0" cy="5040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9" name="Title 1"/>
          <p:cNvSpPr txBox="1"/>
          <p:nvPr/>
        </p:nvSpPr>
        <p:spPr>
          <a:xfrm>
            <a:off x="1875487" y="4155926"/>
            <a:ext cx="504056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1800" b="1" dirty="0" smtClean="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偏移</a:t>
            </a:r>
            <a:endParaRPr lang="en-GB" altLang="zh-CN" sz="1800" b="1" dirty="0">
              <a:solidFill>
                <a:srgbClr val="000000">
                  <a:lumMod val="65000"/>
                  <a:lumOff val="3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0" name="Title 1"/>
          <p:cNvSpPr txBox="1"/>
          <p:nvPr/>
        </p:nvSpPr>
        <p:spPr>
          <a:xfrm>
            <a:off x="3235432" y="4155925"/>
            <a:ext cx="630703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1800" b="1" dirty="0" smtClean="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进程</a:t>
            </a:r>
            <a:r>
              <a:rPr lang="en-US" altLang="zh-CN" sz="1800" b="1" dirty="0" smtClean="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0</a:t>
            </a:r>
            <a:endParaRPr lang="en-GB" altLang="zh-CN" sz="1800" b="1" dirty="0">
              <a:solidFill>
                <a:srgbClr val="000000">
                  <a:lumMod val="65000"/>
                  <a:lumOff val="3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1" name="Title 1"/>
          <p:cNvSpPr txBox="1"/>
          <p:nvPr/>
        </p:nvSpPr>
        <p:spPr>
          <a:xfrm>
            <a:off x="4658702" y="4155925"/>
            <a:ext cx="630703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1800" b="1" dirty="0" smtClean="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进程</a:t>
            </a:r>
            <a:r>
              <a:rPr lang="en-US" altLang="zh-CN" sz="1800" b="1" dirty="0" smtClean="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</a:t>
            </a:r>
            <a:endParaRPr lang="en-GB" altLang="zh-CN" sz="1800" b="1" dirty="0">
              <a:solidFill>
                <a:srgbClr val="000000">
                  <a:lumMod val="65000"/>
                  <a:lumOff val="3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2" name="Title 1"/>
          <p:cNvSpPr txBox="1"/>
          <p:nvPr/>
        </p:nvSpPr>
        <p:spPr>
          <a:xfrm>
            <a:off x="1945134" y="873300"/>
            <a:ext cx="4227194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err="1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MPI_File</a:t>
            </a:r>
            <a:r>
              <a:rPr lang="en-US" altLang="zh-CN" sz="2400" b="1" dirty="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 &amp; </a:t>
            </a:r>
            <a:r>
              <a:rPr lang="en-US" altLang="zh-CN" sz="2400" b="1" dirty="0" err="1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MPI_File_open</a:t>
            </a:r>
            <a:endParaRPr lang="en-GB" altLang="zh-CN" sz="2400" b="1" dirty="0">
              <a:solidFill>
                <a:srgbClr val="000000">
                  <a:lumMod val="65000"/>
                  <a:lumOff val="3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8" name="Title 1"/>
          <p:cNvSpPr txBox="1"/>
          <p:nvPr/>
        </p:nvSpPr>
        <p:spPr>
          <a:xfrm>
            <a:off x="2845430" y="4535402"/>
            <a:ext cx="3720212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可以实现逐字节读取</a:t>
            </a:r>
            <a:r>
              <a:rPr lang="en-US" altLang="zh-CN" sz="2400" b="1" dirty="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&amp;</a:t>
            </a:r>
            <a:r>
              <a:rPr lang="zh-CN" altLang="en-US" sz="2400" b="1" dirty="0" smtClean="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写入</a:t>
            </a:r>
            <a:endParaRPr lang="en-GB" altLang="zh-CN" sz="2400" b="1" dirty="0">
              <a:solidFill>
                <a:srgbClr val="000000">
                  <a:lumMod val="65000"/>
                  <a:lumOff val="3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3" name="Title 1"/>
          <p:cNvSpPr txBox="1"/>
          <p:nvPr/>
        </p:nvSpPr>
        <p:spPr>
          <a:xfrm>
            <a:off x="1044263" y="3246107"/>
            <a:ext cx="719425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1800" b="1" dirty="0" smtClean="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文件头</a:t>
            </a:r>
            <a:endParaRPr lang="en-GB" altLang="zh-CN" sz="1800" b="1" dirty="0">
              <a:solidFill>
                <a:srgbClr val="000000">
                  <a:lumMod val="65000"/>
                  <a:lumOff val="3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48"/>
          <p:cNvSpPr txBox="1"/>
          <p:nvPr/>
        </p:nvSpPr>
        <p:spPr>
          <a:xfrm>
            <a:off x="3454373" y="2643758"/>
            <a:ext cx="2418700" cy="67710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4400" dirty="0" smtClean="0">
                <a:solidFill>
                  <a:srgbClr val="000000">
                    <a:lumMod val="65000"/>
                    <a:lumOff val="35000"/>
                  </a:srgbClr>
                </a:solidFill>
                <a:cs typeface="+mn-ea"/>
                <a:sym typeface="+mn-lt"/>
              </a:rPr>
              <a:t>实验结论</a:t>
            </a:r>
            <a:endParaRPr lang="en-GB" altLang="zh-CN" sz="4400" dirty="0">
              <a:solidFill>
                <a:srgbClr val="000000">
                  <a:lumMod val="65000"/>
                  <a:lumOff val="35000"/>
                </a:srgbClr>
              </a:solidFill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4032064" y="1206537"/>
            <a:ext cx="1116000" cy="1080120"/>
            <a:chOff x="4032064" y="1206537"/>
            <a:chExt cx="1116000" cy="1080120"/>
          </a:xfrm>
        </p:grpSpPr>
        <p:sp>
          <p:nvSpPr>
            <p:cNvPr id="9" name="矩形 8"/>
            <p:cNvSpPr/>
            <p:nvPr/>
          </p:nvSpPr>
          <p:spPr>
            <a:xfrm>
              <a:off x="4032064" y="1206537"/>
              <a:ext cx="1080120" cy="1080120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  <p:sp>
          <p:nvSpPr>
            <p:cNvPr id="64" name="TextBox 48"/>
            <p:cNvSpPr txBox="1"/>
            <p:nvPr/>
          </p:nvSpPr>
          <p:spPr>
            <a:xfrm>
              <a:off x="4179383" y="1308705"/>
              <a:ext cx="968681" cy="83099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5400" dirty="0" smtClean="0">
                  <a:solidFill>
                    <a:srgbClr val="FFFFFF"/>
                  </a:solidFill>
                  <a:cs typeface="+mn-ea"/>
                  <a:sym typeface="+mn-lt"/>
                </a:rPr>
                <a:t>04</a:t>
              </a:r>
              <a:endParaRPr lang="en-GB" altLang="zh-CN" sz="5400" dirty="0">
                <a:solidFill>
                  <a:srgbClr val="FFFFFF"/>
                </a:solidFill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p:transition spd="med">
    <p:push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/>
          <p:cNvSpPr txBox="1"/>
          <p:nvPr/>
        </p:nvSpPr>
        <p:spPr>
          <a:xfrm>
            <a:off x="611560" y="175643"/>
            <a:ext cx="1080120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1800" dirty="0" smtClean="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实验结果</a:t>
            </a:r>
            <a:endParaRPr lang="en-GB" altLang="zh-CN" sz="1800" dirty="0">
              <a:solidFill>
                <a:srgbClr val="000000">
                  <a:lumMod val="65000"/>
                  <a:lumOff val="3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2915920" y="483235"/>
            <a:ext cx="3514090" cy="379730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 smtClean="0">
                <a:solidFill>
                  <a:srgbClr val="000000">
                    <a:lumMod val="65000"/>
                    <a:lumOff val="35000"/>
                  </a:srgbClr>
                </a:solidFill>
                <a:latin typeface="+mj-lt"/>
                <a:ea typeface="+mj-lt"/>
                <a:cs typeface="+mn-ea"/>
                <a:sym typeface="+mn-lt"/>
              </a:rPr>
              <a:t>I7-6700</a:t>
            </a:r>
            <a:r>
              <a:rPr lang="zh-CN" altLang="en-US" sz="2400" b="1" dirty="0" smtClean="0">
                <a:solidFill>
                  <a:srgbClr val="000000">
                    <a:lumMod val="65000"/>
                    <a:lumOff val="35000"/>
                  </a:srgbClr>
                </a:solidFill>
                <a:latin typeface="+mj-lt"/>
                <a:ea typeface="+mj-lt"/>
                <a:cs typeface="+mn-ea"/>
                <a:sym typeface="+mn-lt"/>
              </a:rPr>
              <a:t>八核</a:t>
            </a:r>
            <a:r>
              <a:rPr lang="en-US" altLang="zh-CN" sz="2400" b="1" dirty="0" smtClean="0">
                <a:solidFill>
                  <a:srgbClr val="000000">
                    <a:lumMod val="65000"/>
                    <a:lumOff val="35000"/>
                  </a:srgbClr>
                </a:solidFill>
                <a:latin typeface="+mj-lt"/>
                <a:ea typeface="+mj-lt"/>
                <a:cs typeface="+mn-ea"/>
                <a:sym typeface="+mn-lt"/>
              </a:rPr>
              <a:t> + 8G</a:t>
            </a:r>
            <a:r>
              <a:rPr lang="zh-CN" altLang="en-US" sz="2400" b="1" dirty="0" smtClean="0">
                <a:solidFill>
                  <a:srgbClr val="000000">
                    <a:lumMod val="65000"/>
                    <a:lumOff val="35000"/>
                  </a:srgbClr>
                </a:solidFill>
                <a:latin typeface="+mj-lt"/>
                <a:ea typeface="+mj-lt"/>
                <a:cs typeface="+mn-ea"/>
                <a:sym typeface="+mn-lt"/>
              </a:rPr>
              <a:t>内存</a:t>
            </a:r>
            <a:endParaRPr lang="en-GB" altLang="zh-CN" sz="2400" b="1" dirty="0">
              <a:solidFill>
                <a:srgbClr val="000000">
                  <a:lumMod val="65000"/>
                  <a:lumOff val="35000"/>
                </a:srgbClr>
              </a:solidFill>
              <a:latin typeface="+mj-lt"/>
              <a:ea typeface="+mj-lt"/>
              <a:cs typeface="+mn-ea"/>
              <a:sym typeface="+mn-lt"/>
            </a:endParaRPr>
          </a:p>
        </p:txBody>
      </p:sp>
      <p:graphicFrame>
        <p:nvGraphicFramePr>
          <p:cNvPr id="13" name="图表 12"/>
          <p:cNvGraphicFramePr/>
          <p:nvPr/>
        </p:nvGraphicFramePr>
        <p:xfrm>
          <a:off x="1331640" y="771550"/>
          <a:ext cx="6552728" cy="42796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  <p:transition spd="med">
    <p:push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/>
          <p:cNvSpPr txBox="1"/>
          <p:nvPr/>
        </p:nvSpPr>
        <p:spPr>
          <a:xfrm>
            <a:off x="611560" y="175643"/>
            <a:ext cx="1080120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1800" dirty="0" smtClean="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实验结果</a:t>
            </a:r>
            <a:endParaRPr lang="en-GB" altLang="zh-CN" sz="1800" dirty="0">
              <a:solidFill>
                <a:srgbClr val="000000">
                  <a:lumMod val="65000"/>
                  <a:lumOff val="3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itle 1"/>
              <p:cNvSpPr txBox="1"/>
              <p:nvPr/>
            </p:nvSpPr>
            <p:spPr>
              <a:xfrm>
                <a:off x="1159093" y="1731173"/>
                <a:ext cx="7340592" cy="975384"/>
              </a:xfrm>
              <a:prstGeom prst="rect">
                <a:avLst/>
              </a:prstGeom>
            </p:spPr>
            <p:txBody>
              <a:bodyPr lIns="0" rIns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3000" b="0" kern="1200">
                    <a:solidFill>
                      <a:schemeClr val="accent1"/>
                    </a:solidFill>
                    <a:latin typeface="U.S. 101" pitchFamily="2" charset="0"/>
                    <a:ea typeface="Roboto" pitchFamily="2" charset="0"/>
                    <a:cs typeface="Open Sans Light" panose="020B0306030504020204" pitchFamily="34" charset="0"/>
                  </a:defRPr>
                </a:lvl1pPr>
              </a:lstStyle>
              <a:p>
                <a:pPr algn="l"/>
                <a:r>
                  <a:rPr lang="zh-CN" altLang="en-US" sz="2400" b="1" dirty="0" smtClean="0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微软雅黑"/>
                    <a:ea typeface="微软雅黑"/>
                    <a:cs typeface="+mn-ea"/>
                    <a:sym typeface="+mn-lt"/>
                  </a:rPr>
                  <a:t>理想加速比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 smtClean="0">
                            <a:solidFill>
                              <a:srgbClr val="000000">
                                <a:lumMod val="65000"/>
                                <a:lumOff val="35000"/>
                              </a:srgbClr>
                            </a:solidFill>
                            <a:latin typeface="Cambria Math" panose="02040503050406030204" pitchFamily="18" charset="0"/>
                            <a:ea typeface="微软雅黑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sz="2400" b="1" i="1" dirty="0" smtClean="0">
                            <a:solidFill>
                              <a:srgbClr val="000000">
                                <a:lumMod val="65000"/>
                                <a:lumOff val="35000"/>
                              </a:srgbClr>
                            </a:solidFill>
                            <a:latin typeface="Cambria Math" panose="02040503050406030204" pitchFamily="18" charset="0"/>
                            <a:ea typeface="微软雅黑"/>
                            <a:cs typeface="+mn-ea"/>
                            <a:sym typeface="+mn-lt"/>
                          </a:rPr>
                          <m:t>𝑺</m:t>
                        </m:r>
                      </m:e>
                      <m:sub>
                        <m:r>
                          <a:rPr lang="en-US" altLang="zh-CN" sz="2400" b="1" i="1" dirty="0" smtClean="0">
                            <a:solidFill>
                              <a:srgbClr val="000000">
                                <a:lumMod val="65000"/>
                                <a:lumOff val="35000"/>
                              </a:srgbClr>
                            </a:solidFill>
                            <a:latin typeface="Cambria Math" panose="02040503050406030204" pitchFamily="18" charset="0"/>
                            <a:ea typeface="微软雅黑"/>
                            <a:cs typeface="+mn-ea"/>
                            <a:sym typeface="+mn-lt"/>
                          </a:rPr>
                          <m:t>𝒏</m:t>
                        </m:r>
                      </m:sub>
                    </m:sSub>
                    <m:r>
                      <a:rPr lang="en-US" altLang="zh-CN" sz="2400" b="1" i="1" dirty="0" smtClean="0">
                        <a:solidFill>
                          <a:srgbClr val="000000">
                            <a:lumMod val="65000"/>
                            <a:lumOff val="35000"/>
                          </a:srgbClr>
                        </a:solidFill>
                        <a:latin typeface="Cambria Math" panose="02040503050406030204" pitchFamily="18" charset="0"/>
                        <a:ea typeface="微软雅黑"/>
                        <a:cs typeface="+mn-ea"/>
                        <a:sym typeface="+mn-lt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 smtClean="0">
                            <a:solidFill>
                              <a:srgbClr val="000000">
                                <a:lumMod val="65000"/>
                                <a:lumOff val="35000"/>
                              </a:srgbClr>
                            </a:solidFill>
                            <a:latin typeface="Cambria Math" panose="02040503050406030204" pitchFamily="18" charset="0"/>
                            <a:ea typeface="微软雅黑"/>
                            <a:cs typeface="+mn-ea"/>
                            <a:sym typeface="+mn-lt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 dirty="0" smtClean="0">
                                <a:solidFill>
                                  <a:srgbClr val="000000">
                                    <a:lumMod val="65000"/>
                                    <a:lumOff val="35000"/>
                                  </a:srgbClr>
                                </a:solidFill>
                                <a:latin typeface="Cambria Math" panose="02040503050406030204" pitchFamily="18" charset="0"/>
                                <a:ea typeface="微软雅黑"/>
                                <a:cs typeface="+mn-ea"/>
                                <a:sym typeface="+mn-lt"/>
                              </a:rPr>
                            </m:ctrlPr>
                          </m:sSubPr>
                          <m:e>
                            <m:r>
                              <a:rPr lang="en-US" altLang="zh-CN" sz="2400" b="1" i="1" dirty="0" smtClean="0">
                                <a:solidFill>
                                  <a:srgbClr val="000000">
                                    <a:lumMod val="65000"/>
                                    <a:lumOff val="35000"/>
                                  </a:srgbClr>
                                </a:solidFill>
                                <a:latin typeface="Cambria Math" panose="02040503050406030204" pitchFamily="18" charset="0"/>
                                <a:ea typeface="微软雅黑"/>
                                <a:cs typeface="+mn-ea"/>
                                <a:sym typeface="+mn-lt"/>
                              </a:rPr>
                              <m:t>𝑾</m:t>
                            </m:r>
                          </m:e>
                          <m:sub>
                            <m:r>
                              <a:rPr lang="en-US" altLang="zh-CN" sz="2400" b="1" i="1" dirty="0" smtClean="0">
                                <a:solidFill>
                                  <a:srgbClr val="000000">
                                    <a:lumMod val="65000"/>
                                    <a:lumOff val="35000"/>
                                  </a:srgbClr>
                                </a:solidFill>
                                <a:latin typeface="Cambria Math" panose="02040503050406030204" pitchFamily="18" charset="0"/>
                                <a:ea typeface="微软雅黑"/>
                                <a:cs typeface="+mn-ea"/>
                                <a:sym typeface="+mn-lt"/>
                              </a:rPr>
                              <m:t>𝒔</m:t>
                            </m:r>
                          </m:sub>
                        </m:sSub>
                        <m:r>
                          <a:rPr lang="en-US" altLang="zh-CN" sz="2400" b="1" i="1" dirty="0" smtClean="0">
                            <a:solidFill>
                              <a:srgbClr val="000000">
                                <a:lumMod val="65000"/>
                                <a:lumOff val="35000"/>
                              </a:srgbClr>
                            </a:solidFill>
                            <a:latin typeface="Cambria Math" panose="02040503050406030204" pitchFamily="18" charset="0"/>
                            <a:ea typeface="微软雅黑"/>
                            <a:cs typeface="+mn-ea"/>
                            <a:sym typeface="+mn-lt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b="1" i="1" dirty="0" smtClean="0">
                                <a:solidFill>
                                  <a:srgbClr val="000000">
                                    <a:lumMod val="65000"/>
                                    <a:lumOff val="35000"/>
                                  </a:srgbClr>
                                </a:solidFill>
                                <a:latin typeface="Cambria Math" panose="02040503050406030204" pitchFamily="18" charset="0"/>
                                <a:ea typeface="微软雅黑"/>
                                <a:cs typeface="+mn-ea"/>
                                <a:sym typeface="+mn-lt"/>
                              </a:rPr>
                            </m:ctrlPr>
                          </m:sSubPr>
                          <m:e>
                            <m:r>
                              <a:rPr lang="en-US" altLang="zh-CN" sz="2400" b="1" i="1" dirty="0" smtClean="0">
                                <a:solidFill>
                                  <a:srgbClr val="000000">
                                    <a:lumMod val="65000"/>
                                    <a:lumOff val="35000"/>
                                  </a:srgbClr>
                                </a:solidFill>
                                <a:latin typeface="Cambria Math" panose="02040503050406030204" pitchFamily="18" charset="0"/>
                                <a:ea typeface="微软雅黑"/>
                                <a:cs typeface="+mn-ea"/>
                                <a:sym typeface="+mn-lt"/>
                              </a:rPr>
                              <m:t>𝑾</m:t>
                            </m:r>
                          </m:e>
                          <m:sub>
                            <m:r>
                              <a:rPr lang="en-US" altLang="zh-CN" sz="2400" b="1" i="1" dirty="0" smtClean="0">
                                <a:solidFill>
                                  <a:srgbClr val="000000">
                                    <a:lumMod val="65000"/>
                                    <a:lumOff val="35000"/>
                                  </a:srgbClr>
                                </a:solidFill>
                                <a:latin typeface="Cambria Math" panose="02040503050406030204" pitchFamily="18" charset="0"/>
                                <a:ea typeface="微软雅黑"/>
                                <a:cs typeface="+mn-ea"/>
                                <a:sym typeface="+mn-lt"/>
                              </a:rPr>
                              <m:t>𝒑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b="1" i="1" dirty="0" smtClean="0">
                                <a:solidFill>
                                  <a:srgbClr val="000000">
                                    <a:lumMod val="65000"/>
                                    <a:lumOff val="35000"/>
                                  </a:srgbClr>
                                </a:solidFill>
                                <a:latin typeface="Cambria Math" panose="02040503050406030204" pitchFamily="18" charset="0"/>
                                <a:ea typeface="微软雅黑"/>
                                <a:cs typeface="+mn-ea"/>
                                <a:sym typeface="+mn-lt"/>
                              </a:rPr>
                            </m:ctrlPr>
                          </m:sSubPr>
                          <m:e>
                            <m:r>
                              <a:rPr lang="en-US" altLang="zh-CN" sz="2400" b="1" i="1" dirty="0" smtClean="0">
                                <a:solidFill>
                                  <a:srgbClr val="000000">
                                    <a:lumMod val="65000"/>
                                    <a:lumOff val="35000"/>
                                  </a:srgbClr>
                                </a:solidFill>
                                <a:latin typeface="Cambria Math" panose="02040503050406030204" pitchFamily="18" charset="0"/>
                                <a:ea typeface="微软雅黑"/>
                                <a:cs typeface="+mn-ea"/>
                                <a:sym typeface="+mn-lt"/>
                              </a:rPr>
                              <m:t>𝑾</m:t>
                            </m:r>
                          </m:e>
                          <m:sub>
                            <m:r>
                              <a:rPr lang="en-US" altLang="zh-CN" sz="2400" b="1" i="1" dirty="0" smtClean="0">
                                <a:solidFill>
                                  <a:srgbClr val="000000">
                                    <a:lumMod val="65000"/>
                                    <a:lumOff val="35000"/>
                                  </a:srgbClr>
                                </a:solidFill>
                                <a:latin typeface="Cambria Math" panose="02040503050406030204" pitchFamily="18" charset="0"/>
                                <a:ea typeface="微软雅黑"/>
                                <a:cs typeface="+mn-ea"/>
                                <a:sym typeface="+mn-lt"/>
                              </a:rPr>
                              <m:t>𝒔</m:t>
                            </m:r>
                          </m:sub>
                        </m:sSub>
                        <m:r>
                          <a:rPr lang="en-US" altLang="zh-CN" sz="2400" b="1" i="1" dirty="0" smtClean="0">
                            <a:solidFill>
                              <a:srgbClr val="000000">
                                <a:lumMod val="65000"/>
                                <a:lumOff val="35000"/>
                              </a:srgbClr>
                            </a:solidFill>
                            <a:latin typeface="Cambria Math" panose="02040503050406030204" pitchFamily="18" charset="0"/>
                            <a:ea typeface="微软雅黑"/>
                            <a:cs typeface="+mn-ea"/>
                            <a:sym typeface="+mn-lt"/>
                          </a:rPr>
                          <m:t>+</m:t>
                        </m:r>
                        <m:f>
                          <m:fPr>
                            <m:ctrlPr>
                              <a:rPr lang="en-US" altLang="zh-CN" sz="2400" b="1" i="1" dirty="0" smtClean="0">
                                <a:solidFill>
                                  <a:srgbClr val="000000">
                                    <a:lumMod val="65000"/>
                                    <a:lumOff val="35000"/>
                                  </a:srgbClr>
                                </a:solidFill>
                                <a:latin typeface="Cambria Math" panose="02040503050406030204" pitchFamily="18" charset="0"/>
                                <a:ea typeface="微软雅黑"/>
                                <a:cs typeface="+mn-ea"/>
                                <a:sym typeface="+mn-lt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sz="2400" b="1" i="1" dirty="0" smtClean="0">
                                    <a:solidFill>
                                      <a:srgbClr val="000000">
                                        <a:lumMod val="65000"/>
                                        <a:lumOff val="35000"/>
                                      </a:srgbClr>
                                    </a:solidFill>
                                    <a:latin typeface="Cambria Math" panose="02040503050406030204" pitchFamily="18" charset="0"/>
                                    <a:ea typeface="微软雅黑"/>
                                    <a:cs typeface="+mn-ea"/>
                                    <a:sym typeface="+mn-lt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1" i="1" dirty="0" smtClean="0">
                                    <a:solidFill>
                                      <a:srgbClr val="000000">
                                        <a:lumMod val="65000"/>
                                        <a:lumOff val="35000"/>
                                      </a:srgbClr>
                                    </a:solidFill>
                                    <a:latin typeface="Cambria Math" panose="02040503050406030204" pitchFamily="18" charset="0"/>
                                    <a:ea typeface="微软雅黑"/>
                                    <a:cs typeface="+mn-ea"/>
                                    <a:sym typeface="+mn-lt"/>
                                  </a:rPr>
                                  <m:t>𝑾</m:t>
                                </m:r>
                              </m:e>
                              <m:sub>
                                <m:r>
                                  <a:rPr lang="en-US" altLang="zh-CN" sz="2400" b="1" i="1" dirty="0" smtClean="0">
                                    <a:solidFill>
                                      <a:srgbClr val="000000">
                                        <a:lumMod val="65000"/>
                                        <a:lumOff val="35000"/>
                                      </a:srgbClr>
                                    </a:solidFill>
                                    <a:latin typeface="Cambria Math" panose="02040503050406030204" pitchFamily="18" charset="0"/>
                                    <a:ea typeface="微软雅黑"/>
                                    <a:cs typeface="+mn-ea"/>
                                    <a:sym typeface="+mn-lt"/>
                                  </a:rPr>
                                  <m:t>𝒑</m:t>
                                </m:r>
                              </m:sub>
                            </m:sSub>
                          </m:num>
                          <m:den>
                            <m:r>
                              <a:rPr lang="en-US" altLang="zh-CN" sz="2400" b="1" i="1" dirty="0" smtClean="0">
                                <a:solidFill>
                                  <a:srgbClr val="000000">
                                    <a:lumMod val="65000"/>
                                    <a:lumOff val="35000"/>
                                  </a:srgbClr>
                                </a:solidFill>
                                <a:latin typeface="Cambria Math" panose="02040503050406030204" pitchFamily="18" charset="0"/>
                                <a:ea typeface="微软雅黑"/>
                                <a:cs typeface="+mn-ea"/>
                                <a:sym typeface="+mn-lt"/>
                              </a:rPr>
                              <m:t>𝒏</m:t>
                            </m:r>
                          </m:den>
                        </m:f>
                        <m:r>
                          <a:rPr lang="en-US" altLang="zh-CN" sz="2400" b="1" i="1" dirty="0" smtClean="0">
                            <a:solidFill>
                              <a:srgbClr val="000000">
                                <a:lumMod val="65000"/>
                                <a:lumOff val="35000"/>
                              </a:srgbClr>
                            </a:solidFill>
                            <a:latin typeface="Cambria Math" panose="02040503050406030204" pitchFamily="18" charset="0"/>
                            <a:ea typeface="微软雅黑"/>
                            <a:cs typeface="+mn-ea"/>
                            <a:sym typeface="+mn-lt"/>
                          </a:rPr>
                          <m:t> </m:t>
                        </m:r>
                        <m:r>
                          <a:rPr lang="en-US" altLang="zh-CN" sz="2400" b="1" i="1" dirty="0">
                            <a:solidFill>
                              <a:srgbClr val="000000">
                                <a:lumMod val="65000"/>
                                <a:lumOff val="35000"/>
                              </a:srgbClr>
                            </a:solidFill>
                            <a:latin typeface="Cambria Math" panose="02040503050406030204" pitchFamily="18" charset="0"/>
                            <a:ea typeface="微软雅黑"/>
                            <a:cs typeface="+mn-ea"/>
                            <a:sym typeface="+mn-lt"/>
                          </a:rPr>
                          <m:t>+</m:t>
                        </m:r>
                        <m:r>
                          <a:rPr lang="en-US" altLang="zh-CN" sz="2400" b="1" i="1" dirty="0" smtClean="0">
                            <a:solidFill>
                              <a:srgbClr val="000000">
                                <a:lumMod val="65000"/>
                                <a:lumOff val="35000"/>
                              </a:srgbClr>
                            </a:solidFill>
                            <a:latin typeface="Cambria Math" panose="02040503050406030204" pitchFamily="18" charset="0"/>
                            <a:ea typeface="微软雅黑"/>
                            <a:cs typeface="+mn-ea"/>
                            <a:sym typeface="+mn-lt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CN" sz="2400" b="1" i="1" dirty="0" smtClean="0">
                                <a:solidFill>
                                  <a:srgbClr val="000000">
                                    <a:lumMod val="65000"/>
                                    <a:lumOff val="35000"/>
                                  </a:srgbClr>
                                </a:solidFill>
                                <a:latin typeface="Cambria Math" panose="02040503050406030204" pitchFamily="18" charset="0"/>
                                <a:ea typeface="微软雅黑"/>
                                <a:cs typeface="+mn-ea"/>
                                <a:sym typeface="+mn-lt"/>
                              </a:rPr>
                            </m:ctrlPr>
                          </m:sSubPr>
                          <m:e>
                            <m:r>
                              <a:rPr lang="en-US" altLang="zh-CN" sz="2400" b="1" i="1" dirty="0" smtClean="0">
                                <a:solidFill>
                                  <a:srgbClr val="000000">
                                    <a:lumMod val="65000"/>
                                    <a:lumOff val="35000"/>
                                  </a:srgbClr>
                                </a:solidFill>
                                <a:latin typeface="Cambria Math" panose="02040503050406030204" pitchFamily="18" charset="0"/>
                                <a:ea typeface="微软雅黑"/>
                                <a:cs typeface="+mn-ea"/>
                                <a:sym typeface="+mn-lt"/>
                              </a:rPr>
                              <m:t>𝑾</m:t>
                            </m:r>
                          </m:e>
                          <m:sub>
                            <m:r>
                              <a:rPr lang="en-US" altLang="zh-CN" sz="2400" b="1" i="1" dirty="0" smtClean="0">
                                <a:solidFill>
                                  <a:srgbClr val="000000">
                                    <a:lumMod val="65000"/>
                                    <a:lumOff val="35000"/>
                                  </a:srgbClr>
                                </a:solidFill>
                                <a:latin typeface="Cambria Math" panose="02040503050406030204" pitchFamily="18" charset="0"/>
                                <a:ea typeface="微软雅黑"/>
                                <a:cs typeface="+mn-ea"/>
                                <a:sym typeface="+mn-lt"/>
                              </a:rPr>
                              <m:t>𝒄</m:t>
                            </m:r>
                          </m:sub>
                        </m:sSub>
                        <m:r>
                          <a:rPr lang="en-US" altLang="zh-CN" sz="2400" b="1" i="1" dirty="0" smtClean="0">
                            <a:solidFill>
                              <a:srgbClr val="000000">
                                <a:lumMod val="65000"/>
                                <a:lumOff val="35000"/>
                              </a:srgbClr>
                            </a:solidFill>
                            <a:latin typeface="Cambria Math" panose="02040503050406030204" pitchFamily="18" charset="0"/>
                            <a:ea typeface="微软雅黑"/>
                            <a:cs typeface="+mn-ea"/>
                            <a:sym typeface="+mn-lt"/>
                          </a:rPr>
                          <m:t>+</m:t>
                        </m:r>
                        <m:sSub>
                          <m:sSubPr>
                            <m:ctrlPr>
                              <a:rPr lang="en-US" altLang="zh-CN" sz="2400" b="1" i="1" dirty="0" smtClean="0">
                                <a:solidFill>
                                  <a:srgbClr val="000000">
                                    <a:lumMod val="65000"/>
                                    <a:lumOff val="35000"/>
                                  </a:srgbClr>
                                </a:solidFill>
                                <a:latin typeface="Cambria Math" panose="02040503050406030204" pitchFamily="18" charset="0"/>
                                <a:ea typeface="微软雅黑"/>
                                <a:cs typeface="+mn-ea"/>
                                <a:sym typeface="+mn-lt"/>
                              </a:rPr>
                            </m:ctrlPr>
                          </m:sSubPr>
                          <m:e>
                            <m:r>
                              <a:rPr lang="en-US" altLang="zh-CN" sz="2400" b="1" i="1" dirty="0" smtClean="0">
                                <a:solidFill>
                                  <a:srgbClr val="000000">
                                    <a:lumMod val="65000"/>
                                    <a:lumOff val="35000"/>
                                  </a:srgbClr>
                                </a:solidFill>
                                <a:latin typeface="Cambria Math" panose="02040503050406030204" pitchFamily="18" charset="0"/>
                                <a:ea typeface="微软雅黑"/>
                                <a:cs typeface="+mn-ea"/>
                                <a:sym typeface="+mn-lt"/>
                              </a:rPr>
                              <m:t>𝑾</m:t>
                            </m:r>
                          </m:e>
                          <m:sub>
                            <m:r>
                              <a:rPr lang="en-US" altLang="zh-CN" sz="2400" b="1" i="1" dirty="0" smtClean="0">
                                <a:solidFill>
                                  <a:srgbClr val="000000">
                                    <a:lumMod val="65000"/>
                                    <a:lumOff val="35000"/>
                                  </a:srgbClr>
                                </a:solidFill>
                                <a:latin typeface="Cambria Math" panose="02040503050406030204" pitchFamily="18" charset="0"/>
                                <a:ea typeface="微软雅黑"/>
                                <a:cs typeface="+mn-ea"/>
                                <a:sym typeface="+mn-lt"/>
                              </a:rPr>
                              <m:t>𝒆</m:t>
                            </m:r>
                          </m:sub>
                        </m:sSub>
                      </m:den>
                    </m:f>
                    <m:r>
                      <a:rPr lang="en-US" altLang="zh-CN" sz="2400" b="1" i="1" dirty="0" smtClean="0">
                        <a:solidFill>
                          <a:srgbClr val="000000">
                            <a:lumMod val="65000"/>
                            <a:lumOff val="35000"/>
                          </a:srgbClr>
                        </a:solidFill>
                        <a:latin typeface="Cambria Math" panose="02040503050406030204" pitchFamily="18" charset="0"/>
                        <a:ea typeface="微软雅黑"/>
                        <a:cs typeface="+mn-ea"/>
                        <a:sym typeface="+mn-lt"/>
                      </a:rPr>
                      <m:t>= </m:t>
                    </m:r>
                    <m:f>
                      <m:fPr>
                        <m:ctrlPr>
                          <a:rPr lang="en-US" altLang="zh-CN" sz="2400" b="1" i="1" dirty="0" smtClean="0">
                            <a:solidFill>
                              <a:srgbClr val="000000">
                                <a:lumMod val="65000"/>
                                <a:lumOff val="35000"/>
                              </a:srgbClr>
                            </a:solidFill>
                            <a:latin typeface="Cambria Math" panose="02040503050406030204" pitchFamily="18" charset="0"/>
                            <a:ea typeface="微软雅黑"/>
                            <a:cs typeface="+mn-ea"/>
                            <a:sym typeface="+mn-lt"/>
                          </a:rPr>
                        </m:ctrlPr>
                      </m:fPr>
                      <m:num>
                        <m:r>
                          <a:rPr lang="en-US" altLang="zh-CN" sz="2400" b="1" i="1" dirty="0" smtClean="0">
                            <a:solidFill>
                              <a:srgbClr val="000000">
                                <a:lumMod val="65000"/>
                                <a:lumOff val="35000"/>
                              </a:srgbClr>
                            </a:solidFill>
                            <a:latin typeface="Cambria Math" panose="02040503050406030204" pitchFamily="18" charset="0"/>
                            <a:ea typeface="微软雅黑"/>
                            <a:cs typeface="+mn-ea"/>
                            <a:sym typeface="+mn-lt"/>
                          </a:rPr>
                          <m:t>𝟖𝟕</m:t>
                        </m:r>
                        <m:r>
                          <a:rPr lang="en-US" altLang="zh-CN" sz="2400" b="1" i="1" dirty="0" smtClean="0">
                            <a:solidFill>
                              <a:srgbClr val="000000">
                                <a:lumMod val="65000"/>
                                <a:lumOff val="35000"/>
                              </a:srgbClr>
                            </a:solidFill>
                            <a:latin typeface="Cambria Math" panose="02040503050406030204" pitchFamily="18" charset="0"/>
                            <a:ea typeface="微软雅黑"/>
                            <a:cs typeface="+mn-ea"/>
                            <a:sym typeface="+mn-lt"/>
                          </a:rPr>
                          <m:t>.</m:t>
                        </m:r>
                        <m:r>
                          <a:rPr lang="en-US" altLang="zh-CN" sz="2400" b="1" i="1" dirty="0" smtClean="0">
                            <a:solidFill>
                              <a:srgbClr val="000000">
                                <a:lumMod val="65000"/>
                                <a:lumOff val="35000"/>
                              </a:srgbClr>
                            </a:solidFill>
                            <a:latin typeface="Cambria Math" panose="02040503050406030204" pitchFamily="18" charset="0"/>
                            <a:ea typeface="微软雅黑"/>
                            <a:cs typeface="+mn-ea"/>
                            <a:sym typeface="+mn-lt"/>
                          </a:rPr>
                          <m:t>𝟒𝟏𝟏𝟕</m:t>
                        </m:r>
                      </m:num>
                      <m:den>
                        <m:r>
                          <a:rPr lang="en-US" altLang="zh-CN" sz="2400" b="1" i="1" dirty="0" smtClean="0">
                            <a:solidFill>
                              <a:srgbClr val="000000">
                                <a:lumMod val="65000"/>
                                <a:lumOff val="35000"/>
                              </a:srgbClr>
                            </a:solidFill>
                            <a:latin typeface="Cambria Math" panose="02040503050406030204" pitchFamily="18" charset="0"/>
                            <a:ea typeface="微软雅黑"/>
                            <a:cs typeface="+mn-ea"/>
                            <a:sym typeface="+mn-lt"/>
                          </a:rPr>
                          <m:t>𝟒</m:t>
                        </m:r>
                        <m:r>
                          <a:rPr lang="en-US" altLang="zh-CN" sz="2400" b="1" i="1" dirty="0" smtClean="0">
                            <a:solidFill>
                              <a:srgbClr val="000000">
                                <a:lumMod val="65000"/>
                                <a:lumOff val="35000"/>
                              </a:srgbClr>
                            </a:solidFill>
                            <a:latin typeface="Cambria Math" panose="02040503050406030204" pitchFamily="18" charset="0"/>
                            <a:ea typeface="微软雅黑"/>
                            <a:cs typeface="+mn-ea"/>
                            <a:sym typeface="+mn-lt"/>
                          </a:rPr>
                          <m:t>.</m:t>
                        </m:r>
                        <m:r>
                          <a:rPr lang="en-US" altLang="zh-CN" sz="2400" b="1" i="1" dirty="0" smtClean="0">
                            <a:solidFill>
                              <a:srgbClr val="000000">
                                <a:lumMod val="65000"/>
                                <a:lumOff val="35000"/>
                              </a:srgbClr>
                            </a:solidFill>
                            <a:latin typeface="Cambria Math" panose="02040503050406030204" pitchFamily="18" charset="0"/>
                            <a:ea typeface="微软雅黑"/>
                            <a:cs typeface="+mn-ea"/>
                            <a:sym typeface="+mn-lt"/>
                          </a:rPr>
                          <m:t>𝟓𝟐𝟔𝟓</m:t>
                        </m:r>
                        <m:r>
                          <a:rPr lang="en-US" altLang="zh-CN" sz="2400" b="1" i="1" dirty="0" smtClean="0">
                            <a:solidFill>
                              <a:srgbClr val="000000">
                                <a:lumMod val="65000"/>
                                <a:lumOff val="35000"/>
                              </a:srgbClr>
                            </a:solidFill>
                            <a:latin typeface="Cambria Math" panose="02040503050406030204" pitchFamily="18" charset="0"/>
                            <a:ea typeface="微软雅黑"/>
                            <a:cs typeface="+mn-ea"/>
                            <a:sym typeface="+mn-lt"/>
                          </a:rPr>
                          <m:t>+ </m:t>
                        </m:r>
                        <m:f>
                          <m:fPr>
                            <m:ctrlPr>
                              <a:rPr lang="en-US" altLang="zh-CN" sz="2400" b="1" i="1" dirty="0" smtClean="0">
                                <a:solidFill>
                                  <a:srgbClr val="000000">
                                    <a:lumMod val="65000"/>
                                    <a:lumOff val="35000"/>
                                  </a:srgbClr>
                                </a:solidFill>
                                <a:latin typeface="Cambria Math" panose="02040503050406030204" pitchFamily="18" charset="0"/>
                                <a:ea typeface="微软雅黑"/>
                                <a:cs typeface="+mn-ea"/>
                                <a:sym typeface="+mn-lt"/>
                              </a:rPr>
                            </m:ctrlPr>
                          </m:fPr>
                          <m:num>
                            <m:r>
                              <a:rPr lang="en-US" altLang="zh-CN" sz="2400" b="1" i="1" dirty="0" smtClean="0">
                                <a:solidFill>
                                  <a:srgbClr val="000000">
                                    <a:lumMod val="65000"/>
                                    <a:lumOff val="35000"/>
                                  </a:srgbClr>
                                </a:solidFill>
                                <a:latin typeface="Cambria Math" panose="02040503050406030204" pitchFamily="18" charset="0"/>
                                <a:ea typeface="微软雅黑"/>
                                <a:cs typeface="+mn-ea"/>
                                <a:sym typeface="+mn-lt"/>
                              </a:rPr>
                              <m:t>𝟖𝟐</m:t>
                            </m:r>
                            <m:r>
                              <a:rPr lang="en-US" altLang="zh-CN" sz="2400" b="1" i="1" dirty="0" smtClean="0">
                                <a:solidFill>
                                  <a:srgbClr val="000000">
                                    <a:lumMod val="65000"/>
                                    <a:lumOff val="35000"/>
                                  </a:srgbClr>
                                </a:solidFill>
                                <a:latin typeface="Cambria Math" panose="02040503050406030204" pitchFamily="18" charset="0"/>
                                <a:ea typeface="微软雅黑"/>
                                <a:cs typeface="+mn-ea"/>
                                <a:sym typeface="+mn-lt"/>
                              </a:rPr>
                              <m:t>.</m:t>
                            </m:r>
                            <m:r>
                              <a:rPr lang="en-US" altLang="zh-CN" sz="2400" b="1" i="1" dirty="0" smtClean="0">
                                <a:solidFill>
                                  <a:srgbClr val="000000">
                                    <a:lumMod val="65000"/>
                                    <a:lumOff val="35000"/>
                                  </a:srgbClr>
                                </a:solidFill>
                                <a:latin typeface="Cambria Math" panose="02040503050406030204" pitchFamily="18" charset="0"/>
                                <a:ea typeface="微软雅黑"/>
                                <a:cs typeface="+mn-ea"/>
                                <a:sym typeface="+mn-lt"/>
                              </a:rPr>
                              <m:t>𝟖𝟖𝟓𝟏</m:t>
                            </m:r>
                          </m:num>
                          <m:den>
                            <m:r>
                              <a:rPr lang="en-US" altLang="zh-CN" sz="2400" b="1" i="1" dirty="0" smtClean="0">
                                <a:solidFill>
                                  <a:srgbClr val="000000">
                                    <a:lumMod val="65000"/>
                                    <a:lumOff val="35000"/>
                                  </a:srgbClr>
                                </a:solidFill>
                                <a:latin typeface="Cambria Math" panose="02040503050406030204" pitchFamily="18" charset="0"/>
                                <a:ea typeface="微软雅黑"/>
                                <a:cs typeface="+mn-ea"/>
                                <a:sym typeface="+mn-lt"/>
                              </a:rPr>
                              <m:t>𝟒</m:t>
                            </m:r>
                          </m:den>
                        </m:f>
                      </m:den>
                    </m:f>
                    <m:r>
                      <a:rPr lang="en-US" altLang="zh-CN" sz="2400" b="1" i="1" dirty="0" smtClean="0">
                        <a:solidFill>
                          <a:srgbClr val="000000">
                            <a:lumMod val="65000"/>
                            <a:lumOff val="35000"/>
                          </a:srgbClr>
                        </a:solidFill>
                        <a:latin typeface="Cambria Math" panose="02040503050406030204" pitchFamily="18" charset="0"/>
                        <a:ea typeface="微软雅黑"/>
                        <a:cs typeface="+mn-ea"/>
                        <a:sym typeface="+mn-lt"/>
                      </a:rPr>
                      <m:t>=</m:t>
                    </m:r>
                    <m:r>
                      <a:rPr lang="en-US" altLang="zh-CN" sz="2400" b="1" i="1" dirty="0" smtClean="0">
                        <a:solidFill>
                          <a:srgbClr val="000000">
                            <a:lumMod val="65000"/>
                            <a:lumOff val="35000"/>
                          </a:srgbClr>
                        </a:solidFill>
                        <a:latin typeface="Cambria Math" panose="02040503050406030204" pitchFamily="18" charset="0"/>
                        <a:ea typeface="微软雅黑"/>
                        <a:cs typeface="+mn-ea"/>
                        <a:sym typeface="+mn-lt"/>
                      </a:rPr>
                      <m:t>𝟑</m:t>
                    </m:r>
                    <m:r>
                      <a:rPr lang="en-US" altLang="zh-CN" sz="2400" b="1" i="1" dirty="0" smtClean="0">
                        <a:solidFill>
                          <a:srgbClr val="000000">
                            <a:lumMod val="65000"/>
                            <a:lumOff val="35000"/>
                          </a:srgbClr>
                        </a:solidFill>
                        <a:latin typeface="Cambria Math" panose="02040503050406030204" pitchFamily="18" charset="0"/>
                        <a:ea typeface="微软雅黑"/>
                        <a:cs typeface="+mn-ea"/>
                        <a:sym typeface="+mn-lt"/>
                      </a:rPr>
                      <m:t>.</m:t>
                    </m:r>
                    <m:r>
                      <a:rPr lang="en-US" altLang="zh-CN" sz="2400" b="1" i="1" dirty="0" smtClean="0">
                        <a:solidFill>
                          <a:srgbClr val="000000">
                            <a:lumMod val="65000"/>
                            <a:lumOff val="35000"/>
                          </a:srgbClr>
                        </a:solidFill>
                        <a:latin typeface="Cambria Math" panose="02040503050406030204" pitchFamily="18" charset="0"/>
                        <a:ea typeface="微软雅黑"/>
                        <a:cs typeface="+mn-ea"/>
                        <a:sym typeface="+mn-lt"/>
                      </a:rPr>
                      <m:t>𝟒𝟔</m:t>
                    </m:r>
                    <m:r>
                      <a:rPr lang="en-US" altLang="zh-CN" sz="2400" b="1" i="1" dirty="0" smtClean="0">
                        <a:solidFill>
                          <a:srgbClr val="000000">
                            <a:lumMod val="65000"/>
                            <a:lumOff val="35000"/>
                          </a:srgbClr>
                        </a:solidFill>
                        <a:latin typeface="Cambria Math" panose="02040503050406030204" pitchFamily="18" charset="0"/>
                        <a:ea typeface="微软雅黑"/>
                        <a:cs typeface="+mn-ea"/>
                        <a:sym typeface="+mn-lt"/>
                      </a:rPr>
                      <m:t> </m:t>
                    </m:r>
                  </m:oMath>
                </a14:m>
                <a:r>
                  <a:rPr lang="en-GB" altLang="zh-CN" sz="2400" b="1" dirty="0" smtClean="0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微软雅黑"/>
                    <a:ea typeface="微软雅黑"/>
                    <a:cs typeface="+mn-ea"/>
                    <a:sym typeface="+mn-lt"/>
                  </a:rPr>
                  <a:t> </a:t>
                </a:r>
                <a:endParaRPr lang="en-GB" altLang="zh-CN" sz="2400" b="1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微软雅黑"/>
                  <a:ea typeface="微软雅黑"/>
                  <a:cs typeface="+mn-ea"/>
                  <a:sym typeface="+mn-lt"/>
                </a:endParaRPr>
              </a:p>
            </p:txBody>
          </p:sp>
        </mc:Choice>
        <mc:Fallback>
          <p:sp>
            <p:nvSpPr>
              <p:cNvPr id="6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9093" y="1731173"/>
                <a:ext cx="7340592" cy="975384"/>
              </a:xfrm>
              <a:prstGeom prst="rect">
                <a:avLst/>
              </a:prstGeom>
              <a:blipFill rotWithShape="0">
                <a:blip r:embed="rId1"/>
                <a:stretch>
                  <a:fillRect l="-24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itle 1"/>
          <p:cNvSpPr txBox="1"/>
          <p:nvPr/>
        </p:nvSpPr>
        <p:spPr>
          <a:xfrm>
            <a:off x="1159093" y="1161520"/>
            <a:ext cx="2016224" cy="471328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以</a:t>
            </a:r>
            <a:r>
              <a:rPr lang="en-US" altLang="zh-CN" sz="2400" b="1" dirty="0" smtClean="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4</a:t>
            </a:r>
            <a:r>
              <a:rPr lang="zh-CN" altLang="en-US" sz="2400" b="1" dirty="0" smtClean="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进程为例</a:t>
            </a:r>
            <a:r>
              <a:rPr lang="en-US" altLang="zh-CN" sz="2400" b="1" dirty="0" smtClean="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:</a:t>
            </a:r>
            <a:endParaRPr lang="en-GB" altLang="zh-CN" sz="2400" b="1" dirty="0">
              <a:solidFill>
                <a:srgbClr val="000000">
                  <a:lumMod val="65000"/>
                  <a:lumOff val="3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9" name="Oval 7"/>
          <p:cNvSpPr/>
          <p:nvPr/>
        </p:nvSpPr>
        <p:spPr bwMode="auto">
          <a:xfrm>
            <a:off x="581977" y="1202750"/>
            <a:ext cx="417404" cy="41751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>
              <a:cs typeface="+mn-ea"/>
              <a:sym typeface="+mn-lt"/>
            </a:endParaRPr>
          </a:p>
        </p:txBody>
      </p:sp>
      <p:sp>
        <p:nvSpPr>
          <p:cNvPr id="10" name="Freeform: Shape 13"/>
          <p:cNvSpPr>
            <a:spLocks noChangeAspect="1"/>
          </p:cNvSpPr>
          <p:nvPr/>
        </p:nvSpPr>
        <p:spPr bwMode="auto">
          <a:xfrm>
            <a:off x="674464" y="1306182"/>
            <a:ext cx="232430" cy="210649"/>
          </a:xfrm>
          <a:custGeom>
            <a:avLst/>
            <a:gdLst>
              <a:gd name="connsiteX0" fmla="*/ 496512 w 622984"/>
              <a:gd name="connsiteY0" fmla="*/ 492841 h 564606"/>
              <a:gd name="connsiteX1" fmla="*/ 473955 w 622984"/>
              <a:gd name="connsiteY1" fmla="*/ 515853 h 564606"/>
              <a:gd name="connsiteX2" fmla="*/ 496512 w 622984"/>
              <a:gd name="connsiteY2" fmla="*/ 535354 h 564606"/>
              <a:gd name="connsiteX3" fmla="*/ 519457 w 622984"/>
              <a:gd name="connsiteY3" fmla="*/ 515853 h 564606"/>
              <a:gd name="connsiteX4" fmla="*/ 496512 w 622984"/>
              <a:gd name="connsiteY4" fmla="*/ 492841 h 564606"/>
              <a:gd name="connsiteX5" fmla="*/ 249694 w 622984"/>
              <a:gd name="connsiteY5" fmla="*/ 352049 h 564606"/>
              <a:gd name="connsiteX6" fmla="*/ 272741 w 622984"/>
              <a:gd name="connsiteY6" fmla="*/ 374570 h 564606"/>
              <a:gd name="connsiteX7" fmla="*/ 171569 w 622984"/>
              <a:gd name="connsiteY7" fmla="*/ 475137 h 564606"/>
              <a:gd name="connsiteX8" fmla="*/ 177819 w 622984"/>
              <a:gd name="connsiteY8" fmla="*/ 481738 h 564606"/>
              <a:gd name="connsiteX9" fmla="*/ 155163 w 622984"/>
              <a:gd name="connsiteY9" fmla="*/ 510860 h 564606"/>
              <a:gd name="connsiteX10" fmla="*/ 73522 w 622984"/>
              <a:gd name="connsiteY10" fmla="*/ 562891 h 564606"/>
              <a:gd name="connsiteX11" fmla="*/ 60241 w 622984"/>
              <a:gd name="connsiteY11" fmla="*/ 550077 h 564606"/>
              <a:gd name="connsiteX12" fmla="*/ 112585 w 622984"/>
              <a:gd name="connsiteY12" fmla="*/ 468925 h 564606"/>
              <a:gd name="connsiteX13" fmla="*/ 141882 w 622984"/>
              <a:gd name="connsiteY13" fmla="*/ 446015 h 564606"/>
              <a:gd name="connsiteX14" fmla="*/ 148522 w 622984"/>
              <a:gd name="connsiteY14" fmla="*/ 452616 h 564606"/>
              <a:gd name="connsiteX15" fmla="*/ 122234 w 622984"/>
              <a:gd name="connsiteY15" fmla="*/ 15041 h 564606"/>
              <a:gd name="connsiteX16" fmla="*/ 210667 w 622984"/>
              <a:gd name="connsiteY16" fmla="*/ 52502 h 564606"/>
              <a:gd name="connsiteX17" fmla="*/ 242946 w 622984"/>
              <a:gd name="connsiteY17" fmla="*/ 173410 h 564606"/>
              <a:gd name="connsiteX18" fmla="*/ 532291 w 622984"/>
              <a:gd name="connsiteY18" fmla="*/ 463589 h 564606"/>
              <a:gd name="connsiteX19" fmla="*/ 532291 w 622984"/>
              <a:gd name="connsiteY19" fmla="*/ 545105 h 564606"/>
              <a:gd name="connsiteX20" fmla="*/ 493400 w 622984"/>
              <a:gd name="connsiteY20" fmla="*/ 564606 h 564606"/>
              <a:gd name="connsiteX21" fmla="*/ 451010 w 622984"/>
              <a:gd name="connsiteY21" fmla="*/ 545105 h 564606"/>
              <a:gd name="connsiteX22" fmla="*/ 161665 w 622984"/>
              <a:gd name="connsiteY22" fmla="*/ 258046 h 564606"/>
              <a:gd name="connsiteX23" fmla="*/ 34882 w 622984"/>
              <a:gd name="connsiteY23" fmla="*/ 225674 h 564606"/>
              <a:gd name="connsiteX24" fmla="*/ 5715 w 622984"/>
              <a:gd name="connsiteY24" fmla="*/ 104766 h 564606"/>
              <a:gd name="connsiteX25" fmla="*/ 74162 w 622984"/>
              <a:gd name="connsiteY25" fmla="*/ 176530 h 564606"/>
              <a:gd name="connsiteX26" fmla="*/ 142220 w 622984"/>
              <a:gd name="connsiteY26" fmla="*/ 157029 h 564606"/>
              <a:gd name="connsiteX27" fmla="*/ 161665 w 622984"/>
              <a:gd name="connsiteY27" fmla="*/ 88385 h 564606"/>
              <a:gd name="connsiteX28" fmla="*/ 90107 w 622984"/>
              <a:gd name="connsiteY28" fmla="*/ 20130 h 564606"/>
              <a:gd name="connsiteX29" fmla="*/ 122234 w 622984"/>
              <a:gd name="connsiteY29" fmla="*/ 15041 h 564606"/>
              <a:gd name="connsiteX30" fmla="*/ 531841 w 622984"/>
              <a:gd name="connsiteY30" fmla="*/ 0 h 564606"/>
              <a:gd name="connsiteX31" fmla="*/ 622984 w 622984"/>
              <a:gd name="connsiteY31" fmla="*/ 87684 h 564606"/>
              <a:gd name="connsiteX32" fmla="*/ 463289 w 622984"/>
              <a:gd name="connsiteY32" fmla="*/ 247465 h 564606"/>
              <a:gd name="connsiteX33" fmla="*/ 424339 w 622984"/>
              <a:gd name="connsiteY33" fmla="*/ 257207 h 564606"/>
              <a:gd name="connsiteX34" fmla="*/ 362409 w 622984"/>
              <a:gd name="connsiteY34" fmla="*/ 198751 h 564606"/>
              <a:gd name="connsiteX35" fmla="*/ 375263 w 622984"/>
              <a:gd name="connsiteY35" fmla="*/ 159391 h 564606"/>
              <a:gd name="connsiteX36" fmla="*/ 531841 w 622984"/>
              <a:gd name="connsiteY36" fmla="*/ 0 h 564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622984" h="564606">
                <a:moveTo>
                  <a:pt x="496512" y="492841"/>
                </a:moveTo>
                <a:cubicBezTo>
                  <a:pt x="483678" y="492841"/>
                  <a:pt x="473955" y="502592"/>
                  <a:pt x="473955" y="515853"/>
                </a:cubicBezTo>
                <a:cubicBezTo>
                  <a:pt x="473955" y="525604"/>
                  <a:pt x="483678" y="535354"/>
                  <a:pt x="496512" y="535354"/>
                </a:cubicBezTo>
                <a:cubicBezTo>
                  <a:pt x="509734" y="535354"/>
                  <a:pt x="519457" y="525604"/>
                  <a:pt x="519457" y="515853"/>
                </a:cubicBezTo>
                <a:cubicBezTo>
                  <a:pt x="519457" y="502592"/>
                  <a:pt x="509734" y="492841"/>
                  <a:pt x="496512" y="492841"/>
                </a:cubicBezTo>
                <a:close/>
                <a:moveTo>
                  <a:pt x="249694" y="352049"/>
                </a:moveTo>
                <a:lnTo>
                  <a:pt x="272741" y="374570"/>
                </a:lnTo>
                <a:lnTo>
                  <a:pt x="171569" y="475137"/>
                </a:lnTo>
                <a:lnTo>
                  <a:pt x="177819" y="481738"/>
                </a:lnTo>
                <a:lnTo>
                  <a:pt x="155163" y="510860"/>
                </a:lnTo>
                <a:lnTo>
                  <a:pt x="73522" y="562891"/>
                </a:lnTo>
                <a:lnTo>
                  <a:pt x="60241" y="550077"/>
                </a:lnTo>
                <a:lnTo>
                  <a:pt x="112585" y="468925"/>
                </a:lnTo>
                <a:lnTo>
                  <a:pt x="141882" y="446015"/>
                </a:lnTo>
                <a:lnTo>
                  <a:pt x="148522" y="452616"/>
                </a:lnTo>
                <a:close/>
                <a:moveTo>
                  <a:pt x="122234" y="15041"/>
                </a:moveTo>
                <a:cubicBezTo>
                  <a:pt x="154446" y="14694"/>
                  <a:pt x="186166" y="28223"/>
                  <a:pt x="210667" y="52502"/>
                </a:cubicBezTo>
                <a:cubicBezTo>
                  <a:pt x="242946" y="85264"/>
                  <a:pt x="256169" y="130897"/>
                  <a:pt x="242946" y="173410"/>
                </a:cubicBezTo>
                <a:lnTo>
                  <a:pt x="532291" y="463589"/>
                </a:lnTo>
                <a:cubicBezTo>
                  <a:pt x="555236" y="486211"/>
                  <a:pt x="555236" y="522093"/>
                  <a:pt x="532291" y="545105"/>
                </a:cubicBezTo>
                <a:cubicBezTo>
                  <a:pt x="522568" y="557976"/>
                  <a:pt x="506234" y="564606"/>
                  <a:pt x="493400" y="564606"/>
                </a:cubicBezTo>
                <a:cubicBezTo>
                  <a:pt x="477066" y="564606"/>
                  <a:pt x="460733" y="557976"/>
                  <a:pt x="451010" y="545105"/>
                </a:cubicBezTo>
                <a:cubicBezTo>
                  <a:pt x="451010" y="545105"/>
                  <a:pt x="451010" y="545105"/>
                  <a:pt x="161665" y="258046"/>
                </a:cubicBezTo>
                <a:cubicBezTo>
                  <a:pt x="119275" y="270917"/>
                  <a:pt x="70662" y="261556"/>
                  <a:pt x="34882" y="225674"/>
                </a:cubicBezTo>
                <a:cubicBezTo>
                  <a:pt x="2215" y="192911"/>
                  <a:pt x="-7508" y="147278"/>
                  <a:pt x="5715" y="104766"/>
                </a:cubicBezTo>
                <a:cubicBezTo>
                  <a:pt x="5715" y="104766"/>
                  <a:pt x="5715" y="104766"/>
                  <a:pt x="74162" y="176530"/>
                </a:cubicBezTo>
                <a:cubicBezTo>
                  <a:pt x="74162" y="176530"/>
                  <a:pt x="74162" y="176530"/>
                  <a:pt x="142220" y="157029"/>
                </a:cubicBezTo>
                <a:cubicBezTo>
                  <a:pt x="142220" y="157029"/>
                  <a:pt x="142220" y="157029"/>
                  <a:pt x="161665" y="88385"/>
                </a:cubicBezTo>
                <a:cubicBezTo>
                  <a:pt x="161665" y="88385"/>
                  <a:pt x="161665" y="88385"/>
                  <a:pt x="90107" y="20130"/>
                </a:cubicBezTo>
                <a:cubicBezTo>
                  <a:pt x="100704" y="16815"/>
                  <a:pt x="111497" y="15157"/>
                  <a:pt x="122234" y="15041"/>
                </a:cubicBezTo>
                <a:close/>
                <a:moveTo>
                  <a:pt x="531841" y="0"/>
                </a:moveTo>
                <a:cubicBezTo>
                  <a:pt x="531841" y="0"/>
                  <a:pt x="531841" y="0"/>
                  <a:pt x="622984" y="87684"/>
                </a:cubicBezTo>
                <a:cubicBezTo>
                  <a:pt x="622984" y="87684"/>
                  <a:pt x="622984" y="87684"/>
                  <a:pt x="463289" y="247465"/>
                </a:cubicBezTo>
                <a:cubicBezTo>
                  <a:pt x="450436" y="247465"/>
                  <a:pt x="434077" y="250582"/>
                  <a:pt x="424339" y="257207"/>
                </a:cubicBezTo>
                <a:lnTo>
                  <a:pt x="362409" y="198751"/>
                </a:lnTo>
                <a:cubicBezTo>
                  <a:pt x="372147" y="189009"/>
                  <a:pt x="375263" y="172641"/>
                  <a:pt x="375263" y="159391"/>
                </a:cubicBezTo>
                <a:cubicBezTo>
                  <a:pt x="375263" y="159391"/>
                  <a:pt x="375263" y="159391"/>
                  <a:pt x="53184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anchor="ctr"/>
          <a:lstStyle/>
          <a:p>
            <a:pPr algn="ctr"/>
            <a:endParaRPr>
              <a:cs typeface="+mn-ea"/>
              <a:sym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itle 1"/>
              <p:cNvSpPr txBox="1"/>
              <p:nvPr/>
            </p:nvSpPr>
            <p:spPr>
              <a:xfrm>
                <a:off x="1159093" y="2729574"/>
                <a:ext cx="7340592" cy="975384"/>
              </a:xfrm>
              <a:prstGeom prst="rect">
                <a:avLst/>
              </a:prstGeom>
            </p:spPr>
            <p:txBody>
              <a:bodyPr lIns="0" rIns="0" anchor="ctr">
                <a:noAutofit/>
              </a:bodyPr>
              <a:lstStyle>
                <a:lvl1pPr algn="ctr" defTabSz="914400" rtl="0" eaLnBrk="1" latinLnBrk="0" hangingPunct="1">
                  <a:spcBef>
                    <a:spcPct val="0"/>
                  </a:spcBef>
                  <a:buNone/>
                  <a:defRPr sz="3000" b="0" kern="1200">
                    <a:solidFill>
                      <a:schemeClr val="accent1"/>
                    </a:solidFill>
                    <a:latin typeface="U.S. 101" pitchFamily="2" charset="0"/>
                    <a:ea typeface="Roboto" pitchFamily="2" charset="0"/>
                    <a:cs typeface="Open Sans Light" panose="020B0306030504020204" pitchFamily="34" charset="0"/>
                  </a:defRPr>
                </a:lvl1pPr>
              </a:lstStyle>
              <a:p>
                <a:pPr algn="l"/>
                <a:r>
                  <a:rPr lang="zh-CN" altLang="en-US" sz="2400" b="1" dirty="0" smtClean="0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微软雅黑"/>
                    <a:ea typeface="微软雅黑"/>
                    <a:cs typeface="+mn-ea"/>
                    <a:sym typeface="+mn-lt"/>
                  </a:rPr>
                  <a:t>实际加速比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 smtClean="0">
                            <a:solidFill>
                              <a:srgbClr val="000000">
                                <a:lumMod val="65000"/>
                                <a:lumOff val="35000"/>
                              </a:srgbClr>
                            </a:solidFill>
                            <a:latin typeface="Cambria Math" panose="02040503050406030204" pitchFamily="18" charset="0"/>
                            <a:ea typeface="微软雅黑"/>
                            <a:cs typeface="+mn-ea"/>
                            <a:sym typeface="+mn-lt"/>
                          </a:rPr>
                        </m:ctrlPr>
                      </m:sSubPr>
                      <m:e>
                        <m:r>
                          <a:rPr lang="en-US" altLang="zh-CN" sz="2400" b="1" i="1" dirty="0" smtClean="0">
                            <a:solidFill>
                              <a:srgbClr val="000000">
                                <a:lumMod val="65000"/>
                                <a:lumOff val="35000"/>
                              </a:srgbClr>
                            </a:solidFill>
                            <a:latin typeface="Cambria Math" panose="02040503050406030204" pitchFamily="18" charset="0"/>
                            <a:ea typeface="微软雅黑"/>
                            <a:cs typeface="+mn-ea"/>
                            <a:sym typeface="+mn-lt"/>
                          </a:rPr>
                          <m:t>𝑺</m:t>
                        </m:r>
                      </m:e>
                      <m:sub>
                        <m:r>
                          <a:rPr lang="en-US" altLang="zh-CN" sz="2400" b="1" i="1" dirty="0" smtClean="0">
                            <a:solidFill>
                              <a:srgbClr val="000000">
                                <a:lumMod val="65000"/>
                                <a:lumOff val="35000"/>
                              </a:srgbClr>
                            </a:solidFill>
                            <a:latin typeface="Cambria Math" panose="02040503050406030204" pitchFamily="18" charset="0"/>
                            <a:ea typeface="微软雅黑"/>
                            <a:cs typeface="+mn-ea"/>
                            <a:sym typeface="+mn-lt"/>
                          </a:rPr>
                          <m:t>𝒏</m:t>
                        </m:r>
                      </m:sub>
                    </m:sSub>
                    <m:r>
                      <a:rPr lang="en-US" altLang="zh-CN" sz="2400" b="1" i="1" dirty="0" smtClean="0">
                        <a:solidFill>
                          <a:srgbClr val="000000">
                            <a:lumMod val="65000"/>
                            <a:lumOff val="35000"/>
                          </a:srgbClr>
                        </a:solidFill>
                        <a:latin typeface="Cambria Math" panose="02040503050406030204" pitchFamily="18" charset="0"/>
                        <a:ea typeface="微软雅黑"/>
                        <a:cs typeface="+mn-ea"/>
                        <a:sym typeface="+mn-lt"/>
                      </a:rPr>
                      <m:t>=</m:t>
                    </m:r>
                    <m:r>
                      <a:rPr lang="en-US" altLang="zh-CN" sz="2400" b="1" i="1" dirty="0" smtClean="0">
                        <a:solidFill>
                          <a:srgbClr val="000000">
                            <a:lumMod val="65000"/>
                            <a:lumOff val="35000"/>
                          </a:srgbClr>
                        </a:solidFill>
                        <a:latin typeface="Cambria Math" panose="02040503050406030204" pitchFamily="18" charset="0"/>
                        <a:ea typeface="微软雅黑"/>
                        <a:cs typeface="+mn-ea"/>
                        <a:sym typeface="+mn-lt"/>
                      </a:rPr>
                      <m:t>𝟐</m:t>
                    </m:r>
                    <m:r>
                      <a:rPr lang="en-US" altLang="zh-CN" sz="2400" b="1" i="1" dirty="0" smtClean="0">
                        <a:solidFill>
                          <a:srgbClr val="000000">
                            <a:lumMod val="65000"/>
                            <a:lumOff val="35000"/>
                          </a:srgbClr>
                        </a:solidFill>
                        <a:latin typeface="Cambria Math" panose="02040503050406030204" pitchFamily="18" charset="0"/>
                        <a:ea typeface="微软雅黑"/>
                        <a:cs typeface="+mn-ea"/>
                        <a:sym typeface="+mn-lt"/>
                      </a:rPr>
                      <m:t>.</m:t>
                    </m:r>
                    <m:r>
                      <a:rPr lang="en-US" altLang="zh-CN" sz="2400" b="1" i="1" dirty="0" smtClean="0">
                        <a:solidFill>
                          <a:srgbClr val="000000">
                            <a:lumMod val="65000"/>
                            <a:lumOff val="35000"/>
                          </a:srgbClr>
                        </a:solidFill>
                        <a:latin typeface="Cambria Math" panose="02040503050406030204" pitchFamily="18" charset="0"/>
                        <a:ea typeface="微软雅黑"/>
                        <a:cs typeface="+mn-ea"/>
                        <a:sym typeface="+mn-lt"/>
                      </a:rPr>
                      <m:t>𝟑𝟔</m:t>
                    </m:r>
                    <m:r>
                      <a:rPr lang="en-US" altLang="zh-CN" sz="2400" b="1" i="1" dirty="0" smtClean="0">
                        <a:solidFill>
                          <a:srgbClr val="000000">
                            <a:lumMod val="65000"/>
                            <a:lumOff val="35000"/>
                          </a:srgbClr>
                        </a:solidFill>
                        <a:latin typeface="Cambria Math" panose="02040503050406030204" pitchFamily="18" charset="0"/>
                        <a:ea typeface="微软雅黑"/>
                        <a:cs typeface="+mn-ea"/>
                        <a:sym typeface="+mn-lt"/>
                      </a:rPr>
                      <m:t> </m:t>
                    </m:r>
                  </m:oMath>
                </a14:m>
                <a:r>
                  <a:rPr lang="en-GB" altLang="zh-CN" sz="2400" b="1" dirty="0" smtClean="0">
                    <a:solidFill>
                      <a:srgbClr val="000000">
                        <a:lumMod val="65000"/>
                        <a:lumOff val="35000"/>
                      </a:srgbClr>
                    </a:solidFill>
                    <a:latin typeface="微软雅黑"/>
                    <a:ea typeface="微软雅黑"/>
                    <a:cs typeface="+mn-ea"/>
                    <a:sym typeface="+mn-lt"/>
                  </a:rPr>
                  <a:t> </a:t>
                </a:r>
                <a:endParaRPr lang="en-GB" altLang="zh-CN" sz="2400" b="1" dirty="0">
                  <a:solidFill>
                    <a:srgbClr val="000000">
                      <a:lumMod val="65000"/>
                      <a:lumOff val="35000"/>
                    </a:srgbClr>
                  </a:solidFill>
                  <a:latin typeface="微软雅黑"/>
                  <a:ea typeface="微软雅黑"/>
                  <a:cs typeface="+mn-ea"/>
                  <a:sym typeface="+mn-lt"/>
                </a:endParaRPr>
              </a:p>
            </p:txBody>
          </p:sp>
        </mc:Choice>
        <mc:Fallback>
          <p:sp>
            <p:nvSpPr>
              <p:cNvPr id="11" name="Titl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9093" y="2729574"/>
                <a:ext cx="7340592" cy="975384"/>
              </a:xfrm>
              <a:prstGeom prst="rect">
                <a:avLst/>
              </a:prstGeom>
              <a:blipFill rotWithShape="0">
                <a:blip r:embed="rId2"/>
                <a:stretch>
                  <a:fillRect l="-24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itle 1"/>
          <p:cNvSpPr txBox="1"/>
          <p:nvPr/>
        </p:nvSpPr>
        <p:spPr>
          <a:xfrm>
            <a:off x="611560" y="699542"/>
            <a:ext cx="2304256" cy="471328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2400" b="1" dirty="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Amdahl</a:t>
            </a:r>
            <a:r>
              <a:rPr lang="zh-CN" altLang="en-US" sz="2400" b="1" dirty="0" smtClean="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定律</a:t>
            </a:r>
            <a:endParaRPr lang="en-GB" altLang="zh-CN" sz="2400" b="1" dirty="0">
              <a:solidFill>
                <a:srgbClr val="000000">
                  <a:lumMod val="65000"/>
                  <a:lumOff val="3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/>
          <p:cNvSpPr txBox="1"/>
          <p:nvPr/>
        </p:nvSpPr>
        <p:spPr>
          <a:xfrm>
            <a:off x="611560" y="175643"/>
            <a:ext cx="1080120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1800" dirty="0" smtClean="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实验结果</a:t>
            </a:r>
            <a:endParaRPr lang="en-GB" altLang="zh-CN" sz="1800" dirty="0">
              <a:solidFill>
                <a:srgbClr val="000000">
                  <a:lumMod val="65000"/>
                  <a:lumOff val="3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aphicFrame>
        <p:nvGraphicFramePr>
          <p:cNvPr id="6" name="图表 5"/>
          <p:cNvGraphicFramePr/>
          <p:nvPr/>
        </p:nvGraphicFramePr>
        <p:xfrm>
          <a:off x="1403648" y="555120"/>
          <a:ext cx="6432376" cy="39762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  <p:transition spd="med">
    <p:push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/>
          <p:cNvSpPr txBox="1"/>
          <p:nvPr/>
        </p:nvSpPr>
        <p:spPr>
          <a:xfrm>
            <a:off x="611560" y="175643"/>
            <a:ext cx="1080120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zh-CN" altLang="en-US" sz="1800" dirty="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结论</a:t>
            </a:r>
            <a:endParaRPr lang="en-GB" altLang="zh-CN" sz="1800" dirty="0">
              <a:solidFill>
                <a:srgbClr val="000000">
                  <a:lumMod val="65000"/>
                  <a:lumOff val="3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36" name="Group 31"/>
          <p:cNvGrpSpPr/>
          <p:nvPr/>
        </p:nvGrpSpPr>
        <p:grpSpPr>
          <a:xfrm>
            <a:off x="1691680" y="1121677"/>
            <a:ext cx="1967543" cy="358276"/>
            <a:chOff x="5403632" y="1989666"/>
            <a:chExt cx="2623389" cy="477701"/>
          </a:xfrm>
        </p:grpSpPr>
        <p:grpSp>
          <p:nvGrpSpPr>
            <p:cNvPr id="58" name="Group 53"/>
            <p:cNvGrpSpPr/>
            <p:nvPr/>
          </p:nvGrpSpPr>
          <p:grpSpPr>
            <a:xfrm>
              <a:off x="5403632" y="2028913"/>
              <a:ext cx="399214" cy="399214"/>
              <a:chOff x="0" y="0"/>
              <a:chExt cx="767929" cy="767929"/>
            </a:xfrm>
          </p:grpSpPr>
          <p:sp>
            <p:nvSpPr>
              <p:cNvPr id="62" name="Freeform: Shape 57"/>
              <p:cNvSpPr/>
              <p:nvPr/>
            </p:nvSpPr>
            <p:spPr>
              <a:xfrm>
                <a:off x="0" y="0"/>
                <a:ext cx="767929" cy="7679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3" name="Freeform: Shape 58"/>
              <p:cNvSpPr/>
              <p:nvPr/>
            </p:nvSpPr>
            <p:spPr>
              <a:xfrm>
                <a:off x="234638" y="227334"/>
                <a:ext cx="298653" cy="31326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004" h="21302" extrusionOk="0">
                    <a:moveTo>
                      <a:pt x="7816" y="21302"/>
                    </a:moveTo>
                    <a:cubicBezTo>
                      <a:pt x="7132" y="21302"/>
                      <a:pt x="6483" y="20993"/>
                      <a:pt x="6068" y="20461"/>
                    </a:cubicBezTo>
                    <a:lnTo>
                      <a:pt x="445" y="13277"/>
                    </a:lnTo>
                    <a:cubicBezTo>
                      <a:pt x="-287" y="12344"/>
                      <a:pt x="-97" y="11016"/>
                      <a:pt x="870" y="10308"/>
                    </a:cubicBezTo>
                    <a:cubicBezTo>
                      <a:pt x="1838" y="9597"/>
                      <a:pt x="3211" y="9785"/>
                      <a:pt x="3943" y="10719"/>
                    </a:cubicBezTo>
                    <a:lnTo>
                      <a:pt x="7643" y="15442"/>
                    </a:lnTo>
                    <a:lnTo>
                      <a:pt x="16946" y="999"/>
                    </a:lnTo>
                    <a:cubicBezTo>
                      <a:pt x="17586" y="6"/>
                      <a:pt x="18940" y="-298"/>
                      <a:pt x="19969" y="321"/>
                    </a:cubicBezTo>
                    <a:cubicBezTo>
                      <a:pt x="20997" y="939"/>
                      <a:pt x="21313" y="2248"/>
                      <a:pt x="20671" y="3243"/>
                    </a:cubicBezTo>
                    <a:lnTo>
                      <a:pt x="9680" y="20301"/>
                    </a:lnTo>
                    <a:cubicBezTo>
                      <a:pt x="9299" y="20896"/>
                      <a:pt x="8639" y="21267"/>
                      <a:pt x="7917" y="21299"/>
                    </a:cubicBezTo>
                    <a:cubicBezTo>
                      <a:pt x="7882" y="21302"/>
                      <a:pt x="7851" y="21302"/>
                      <a:pt x="7816" y="21302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  <p:sp>
          <p:nvSpPr>
            <p:cNvPr id="60" name="Rectangle 55"/>
            <p:cNvSpPr/>
            <p:nvPr/>
          </p:nvSpPr>
          <p:spPr>
            <a:xfrm>
              <a:off x="5808906" y="1989666"/>
              <a:ext cx="2218115" cy="477701"/>
            </a:xfrm>
            <a:prstGeom prst="rect">
              <a:avLst/>
            </a:prstGeom>
          </p:spPr>
          <p:txBody>
            <a:bodyPr wrap="none" lIns="144000" tIns="0" rIns="144000" bIns="0" anchor="ctr">
              <a:noAutofit/>
            </a:bodyPr>
            <a:lstStyle/>
            <a:p>
              <a:r>
                <a:rPr lang="zh-CN" altLang="en-US" b="1" dirty="0" smtClean="0">
                  <a:solidFill>
                    <a:schemeClr val="accent1"/>
                  </a:solidFill>
                  <a:cs typeface="+mn-ea"/>
                  <a:sym typeface="+mn-lt"/>
                </a:rPr>
                <a:t>性能优异</a:t>
              </a:r>
              <a:endParaRPr lang="zh-CN" altLang="en-US" b="1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7" name="Group 32"/>
          <p:cNvGrpSpPr/>
          <p:nvPr/>
        </p:nvGrpSpPr>
        <p:grpSpPr>
          <a:xfrm>
            <a:off x="4571999" y="1151110"/>
            <a:ext cx="2016224" cy="299411"/>
            <a:chOff x="9516925" y="2142208"/>
            <a:chExt cx="2688298" cy="399215"/>
          </a:xfrm>
        </p:grpSpPr>
        <p:grpSp>
          <p:nvGrpSpPr>
            <p:cNvPr id="52" name="Group 47"/>
            <p:cNvGrpSpPr/>
            <p:nvPr/>
          </p:nvGrpSpPr>
          <p:grpSpPr>
            <a:xfrm>
              <a:off x="9516925" y="2142208"/>
              <a:ext cx="399215" cy="399215"/>
              <a:chOff x="7912331" y="-1778119"/>
              <a:chExt cx="767930" cy="767930"/>
            </a:xfrm>
          </p:grpSpPr>
          <p:sp>
            <p:nvSpPr>
              <p:cNvPr id="56" name="Freeform: Shape 51"/>
              <p:cNvSpPr/>
              <p:nvPr/>
            </p:nvSpPr>
            <p:spPr>
              <a:xfrm>
                <a:off x="7912331" y="-1778119"/>
                <a:ext cx="767930" cy="76793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7" name="Freeform: Shape 52"/>
              <p:cNvSpPr/>
              <p:nvPr/>
            </p:nvSpPr>
            <p:spPr>
              <a:xfrm>
                <a:off x="8146981" y="-1550783"/>
                <a:ext cx="298654" cy="313262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004" h="21302" extrusionOk="0">
                    <a:moveTo>
                      <a:pt x="7816" y="21302"/>
                    </a:moveTo>
                    <a:cubicBezTo>
                      <a:pt x="7132" y="21302"/>
                      <a:pt x="6483" y="20993"/>
                      <a:pt x="6068" y="20461"/>
                    </a:cubicBezTo>
                    <a:lnTo>
                      <a:pt x="445" y="13277"/>
                    </a:lnTo>
                    <a:cubicBezTo>
                      <a:pt x="-287" y="12344"/>
                      <a:pt x="-97" y="11016"/>
                      <a:pt x="870" y="10308"/>
                    </a:cubicBezTo>
                    <a:cubicBezTo>
                      <a:pt x="1838" y="9597"/>
                      <a:pt x="3211" y="9785"/>
                      <a:pt x="3943" y="10719"/>
                    </a:cubicBezTo>
                    <a:lnTo>
                      <a:pt x="7643" y="15442"/>
                    </a:lnTo>
                    <a:lnTo>
                      <a:pt x="16946" y="999"/>
                    </a:lnTo>
                    <a:cubicBezTo>
                      <a:pt x="17586" y="6"/>
                      <a:pt x="18940" y="-298"/>
                      <a:pt x="19969" y="321"/>
                    </a:cubicBezTo>
                    <a:cubicBezTo>
                      <a:pt x="20997" y="939"/>
                      <a:pt x="21313" y="2248"/>
                      <a:pt x="20671" y="3243"/>
                    </a:cubicBezTo>
                    <a:lnTo>
                      <a:pt x="9680" y="20301"/>
                    </a:lnTo>
                    <a:cubicBezTo>
                      <a:pt x="9299" y="20896"/>
                      <a:pt x="8639" y="21267"/>
                      <a:pt x="7917" y="21299"/>
                    </a:cubicBezTo>
                    <a:cubicBezTo>
                      <a:pt x="7882" y="21302"/>
                      <a:pt x="7851" y="21302"/>
                      <a:pt x="7816" y="21302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  <p:sp>
          <p:nvSpPr>
            <p:cNvPr id="54" name="Rectangle 49"/>
            <p:cNvSpPr/>
            <p:nvPr/>
          </p:nvSpPr>
          <p:spPr>
            <a:xfrm>
              <a:off x="10012146" y="2164020"/>
              <a:ext cx="2193077" cy="355590"/>
            </a:xfrm>
            <a:prstGeom prst="rect">
              <a:avLst/>
            </a:prstGeom>
          </p:spPr>
          <p:txBody>
            <a:bodyPr wrap="none" lIns="144000" tIns="0" rIns="144000" bIns="0" anchor="ctr">
              <a:noAutofit/>
            </a:bodyPr>
            <a:lstStyle/>
            <a:p>
              <a:r>
                <a:rPr lang="zh-CN" altLang="en-US" b="1" dirty="0" smtClean="0">
                  <a:solidFill>
                    <a:schemeClr val="accent2"/>
                  </a:solidFill>
                  <a:cs typeface="+mn-ea"/>
                  <a:sym typeface="+mn-lt"/>
                </a:rPr>
                <a:t>数据结构固定</a:t>
              </a:r>
              <a:endParaRPr lang="zh-CN" altLang="en-US" b="1" dirty="0">
                <a:solidFill>
                  <a:schemeClr val="accent2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8" name="Group 33"/>
          <p:cNvGrpSpPr/>
          <p:nvPr/>
        </p:nvGrpSpPr>
        <p:grpSpPr>
          <a:xfrm>
            <a:off x="1691680" y="1815184"/>
            <a:ext cx="2376263" cy="309794"/>
            <a:chOff x="5403632" y="4265391"/>
            <a:chExt cx="3168350" cy="413058"/>
          </a:xfrm>
        </p:grpSpPr>
        <p:grpSp>
          <p:nvGrpSpPr>
            <p:cNvPr id="46" name="Group 41"/>
            <p:cNvGrpSpPr/>
            <p:nvPr/>
          </p:nvGrpSpPr>
          <p:grpSpPr>
            <a:xfrm>
              <a:off x="5403632" y="4279235"/>
              <a:ext cx="399214" cy="399214"/>
              <a:chOff x="0" y="0"/>
              <a:chExt cx="767929" cy="767929"/>
            </a:xfrm>
          </p:grpSpPr>
          <p:sp>
            <p:nvSpPr>
              <p:cNvPr id="50" name="Freeform: Shape 45"/>
              <p:cNvSpPr/>
              <p:nvPr/>
            </p:nvSpPr>
            <p:spPr>
              <a:xfrm>
                <a:off x="0" y="0"/>
                <a:ext cx="767929" cy="7679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1" name="Freeform: Shape 46"/>
              <p:cNvSpPr/>
              <p:nvPr/>
            </p:nvSpPr>
            <p:spPr>
              <a:xfrm>
                <a:off x="234638" y="227334"/>
                <a:ext cx="298653" cy="31326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004" h="21302" extrusionOk="0">
                    <a:moveTo>
                      <a:pt x="7816" y="21302"/>
                    </a:moveTo>
                    <a:cubicBezTo>
                      <a:pt x="7132" y="21302"/>
                      <a:pt x="6483" y="20993"/>
                      <a:pt x="6068" y="20461"/>
                    </a:cubicBezTo>
                    <a:lnTo>
                      <a:pt x="445" y="13277"/>
                    </a:lnTo>
                    <a:cubicBezTo>
                      <a:pt x="-287" y="12344"/>
                      <a:pt x="-97" y="11016"/>
                      <a:pt x="870" y="10308"/>
                    </a:cubicBezTo>
                    <a:cubicBezTo>
                      <a:pt x="1838" y="9597"/>
                      <a:pt x="3211" y="9785"/>
                      <a:pt x="3943" y="10719"/>
                    </a:cubicBezTo>
                    <a:lnTo>
                      <a:pt x="7643" y="15442"/>
                    </a:lnTo>
                    <a:lnTo>
                      <a:pt x="16946" y="999"/>
                    </a:lnTo>
                    <a:cubicBezTo>
                      <a:pt x="17586" y="6"/>
                      <a:pt x="18940" y="-298"/>
                      <a:pt x="19969" y="321"/>
                    </a:cubicBezTo>
                    <a:cubicBezTo>
                      <a:pt x="20997" y="939"/>
                      <a:pt x="21313" y="2248"/>
                      <a:pt x="20671" y="3243"/>
                    </a:cubicBezTo>
                    <a:lnTo>
                      <a:pt x="9680" y="20301"/>
                    </a:lnTo>
                    <a:cubicBezTo>
                      <a:pt x="9299" y="20896"/>
                      <a:pt x="8639" y="21267"/>
                      <a:pt x="7917" y="21299"/>
                    </a:cubicBezTo>
                    <a:cubicBezTo>
                      <a:pt x="7882" y="21302"/>
                      <a:pt x="7851" y="21302"/>
                      <a:pt x="7816" y="21302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  <p:sp>
          <p:nvSpPr>
            <p:cNvPr id="48" name="Rectangle 43"/>
            <p:cNvSpPr/>
            <p:nvPr/>
          </p:nvSpPr>
          <p:spPr>
            <a:xfrm>
              <a:off x="5802845" y="4265391"/>
              <a:ext cx="2769137" cy="399214"/>
            </a:xfrm>
            <a:prstGeom prst="rect">
              <a:avLst/>
            </a:prstGeom>
          </p:spPr>
          <p:txBody>
            <a:bodyPr wrap="none" lIns="144000" tIns="0" rIns="144000" bIns="0" anchor="ctr">
              <a:noAutofit/>
            </a:bodyPr>
            <a:lstStyle/>
            <a:p>
              <a:r>
                <a:rPr lang="zh-CN" altLang="en-US" b="1" dirty="0" smtClean="0">
                  <a:solidFill>
                    <a:schemeClr val="accent3"/>
                  </a:solidFill>
                  <a:cs typeface="+mn-ea"/>
                  <a:sym typeface="+mn-lt"/>
                </a:rPr>
                <a:t>程序设计自由度高</a:t>
              </a:r>
              <a:endParaRPr lang="zh-CN" altLang="en-US" b="1" dirty="0">
                <a:solidFill>
                  <a:schemeClr val="accent3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9" name="Group 34"/>
          <p:cNvGrpSpPr/>
          <p:nvPr/>
        </p:nvGrpSpPr>
        <p:grpSpPr>
          <a:xfrm>
            <a:off x="4572000" y="1825563"/>
            <a:ext cx="2126486" cy="302726"/>
            <a:chOff x="5403632" y="4279235"/>
            <a:chExt cx="2835314" cy="403634"/>
          </a:xfrm>
        </p:grpSpPr>
        <p:grpSp>
          <p:nvGrpSpPr>
            <p:cNvPr id="40" name="Group 35"/>
            <p:cNvGrpSpPr/>
            <p:nvPr/>
          </p:nvGrpSpPr>
          <p:grpSpPr>
            <a:xfrm>
              <a:off x="5403632" y="4279235"/>
              <a:ext cx="399214" cy="399214"/>
              <a:chOff x="0" y="0"/>
              <a:chExt cx="767929" cy="767929"/>
            </a:xfrm>
          </p:grpSpPr>
          <p:sp>
            <p:nvSpPr>
              <p:cNvPr id="44" name="Freeform: Shape 39"/>
              <p:cNvSpPr/>
              <p:nvPr/>
            </p:nvSpPr>
            <p:spPr>
              <a:xfrm>
                <a:off x="0" y="0"/>
                <a:ext cx="767929" cy="7679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5" name="Freeform: Shape 40"/>
              <p:cNvSpPr/>
              <p:nvPr/>
            </p:nvSpPr>
            <p:spPr>
              <a:xfrm>
                <a:off x="234638" y="227334"/>
                <a:ext cx="298653" cy="31326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004" h="21302" extrusionOk="0">
                    <a:moveTo>
                      <a:pt x="7816" y="21302"/>
                    </a:moveTo>
                    <a:cubicBezTo>
                      <a:pt x="7132" y="21302"/>
                      <a:pt x="6483" y="20993"/>
                      <a:pt x="6068" y="20461"/>
                    </a:cubicBezTo>
                    <a:lnTo>
                      <a:pt x="445" y="13277"/>
                    </a:lnTo>
                    <a:cubicBezTo>
                      <a:pt x="-287" y="12344"/>
                      <a:pt x="-97" y="11016"/>
                      <a:pt x="870" y="10308"/>
                    </a:cubicBezTo>
                    <a:cubicBezTo>
                      <a:pt x="1838" y="9597"/>
                      <a:pt x="3211" y="9785"/>
                      <a:pt x="3943" y="10719"/>
                    </a:cubicBezTo>
                    <a:lnTo>
                      <a:pt x="7643" y="15442"/>
                    </a:lnTo>
                    <a:lnTo>
                      <a:pt x="16946" y="999"/>
                    </a:lnTo>
                    <a:cubicBezTo>
                      <a:pt x="17586" y="6"/>
                      <a:pt x="18940" y="-298"/>
                      <a:pt x="19969" y="321"/>
                    </a:cubicBezTo>
                    <a:cubicBezTo>
                      <a:pt x="20997" y="939"/>
                      <a:pt x="21313" y="2248"/>
                      <a:pt x="20671" y="3243"/>
                    </a:cubicBezTo>
                    <a:lnTo>
                      <a:pt x="9680" y="20301"/>
                    </a:lnTo>
                    <a:cubicBezTo>
                      <a:pt x="9299" y="20896"/>
                      <a:pt x="8639" y="21267"/>
                      <a:pt x="7917" y="21299"/>
                    </a:cubicBezTo>
                    <a:cubicBezTo>
                      <a:pt x="7882" y="21302"/>
                      <a:pt x="7851" y="21302"/>
                      <a:pt x="7816" y="21302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  <p:sp>
          <p:nvSpPr>
            <p:cNvPr id="42" name="Rectangle 37"/>
            <p:cNvSpPr/>
            <p:nvPr/>
          </p:nvSpPr>
          <p:spPr>
            <a:xfrm>
              <a:off x="5924825" y="4292502"/>
              <a:ext cx="2314121" cy="390367"/>
            </a:xfrm>
            <a:prstGeom prst="rect">
              <a:avLst/>
            </a:prstGeom>
          </p:spPr>
          <p:txBody>
            <a:bodyPr wrap="none" lIns="144000" tIns="0" rIns="144000" bIns="0" anchor="ctr">
              <a:noAutofit/>
            </a:bodyPr>
            <a:lstStyle/>
            <a:p>
              <a:r>
                <a:rPr lang="zh-CN" altLang="en-US" b="1" dirty="0" smtClean="0">
                  <a:solidFill>
                    <a:schemeClr val="accent4"/>
                  </a:solidFill>
                  <a:cs typeface="+mn-ea"/>
                  <a:sym typeface="+mn-lt"/>
                </a:rPr>
                <a:t>调试困难</a:t>
              </a:r>
              <a:endParaRPr lang="zh-CN" altLang="en-US" b="1" dirty="0">
                <a:solidFill>
                  <a:schemeClr val="accent4"/>
                </a:solidFill>
                <a:cs typeface="+mn-ea"/>
                <a:sym typeface="+mn-lt"/>
              </a:endParaRPr>
            </a:p>
          </p:txBody>
        </p:sp>
      </p:grpSp>
      <p:sp>
        <p:nvSpPr>
          <p:cNvPr id="25" name="Title 1"/>
          <p:cNvSpPr txBox="1"/>
          <p:nvPr/>
        </p:nvSpPr>
        <p:spPr>
          <a:xfrm>
            <a:off x="1187624" y="673766"/>
            <a:ext cx="2952328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1800" b="1" dirty="0" smtClean="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MPI</a:t>
            </a:r>
            <a:r>
              <a:rPr lang="zh-CN" altLang="en-US" sz="1800" b="1" dirty="0" smtClean="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：</a:t>
            </a:r>
            <a:endParaRPr lang="en-GB" altLang="zh-CN" sz="1800" b="1" dirty="0">
              <a:solidFill>
                <a:srgbClr val="000000">
                  <a:lumMod val="65000"/>
                  <a:lumOff val="3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6" name="Title 1"/>
          <p:cNvSpPr txBox="1"/>
          <p:nvPr/>
        </p:nvSpPr>
        <p:spPr>
          <a:xfrm>
            <a:off x="1187624" y="2540968"/>
            <a:ext cx="2952328" cy="379477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/>
            <a:r>
              <a:rPr lang="en-US" altLang="zh-CN" sz="1800" b="1" dirty="0" err="1" smtClean="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pKmeans</a:t>
            </a:r>
            <a:r>
              <a:rPr lang="zh-CN" altLang="en-US" sz="1800" b="1" dirty="0" smtClean="0">
                <a:solidFill>
                  <a:srgbClr val="000000">
                    <a:lumMod val="65000"/>
                    <a:lumOff val="3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：</a:t>
            </a:r>
            <a:endParaRPr lang="en-GB" altLang="zh-CN" sz="1800" b="1" dirty="0">
              <a:solidFill>
                <a:srgbClr val="000000">
                  <a:lumMod val="65000"/>
                  <a:lumOff val="3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8" name="椭圆 27"/>
          <p:cNvSpPr/>
          <p:nvPr/>
        </p:nvSpPr>
        <p:spPr bwMode="auto">
          <a:xfrm>
            <a:off x="692430" y="683504"/>
            <a:ext cx="360000" cy="360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2"/>
            </a:solidFill>
            <a:round/>
          </a:ln>
        </p:spPr>
        <p:txBody>
          <a:bodyPr anchor="ctr"/>
          <a:lstStyle/>
          <a:p>
            <a:pPr algn="ctr"/>
            <a:endParaRPr>
              <a:cs typeface="+mn-ea"/>
              <a:sym typeface="+mn-lt"/>
            </a:endParaRPr>
          </a:p>
        </p:txBody>
      </p:sp>
      <p:sp>
        <p:nvSpPr>
          <p:cNvPr id="29" name="任意多边形: 形状 22"/>
          <p:cNvSpPr>
            <a:spLocks noChangeAspect="1"/>
          </p:cNvSpPr>
          <p:nvPr/>
        </p:nvSpPr>
        <p:spPr bwMode="auto">
          <a:xfrm>
            <a:off x="748398" y="719504"/>
            <a:ext cx="247753" cy="288000"/>
          </a:xfrm>
          <a:custGeom>
            <a:avLst/>
            <a:gdLst>
              <a:gd name="connsiteX0" fmla="*/ 144647 w 290884"/>
              <a:gd name="connsiteY0" fmla="*/ 246063 h 338138"/>
              <a:gd name="connsiteX1" fmla="*/ 110656 w 290884"/>
              <a:gd name="connsiteY1" fmla="*/ 261816 h 338138"/>
              <a:gd name="connsiteX2" fmla="*/ 144647 w 290884"/>
              <a:gd name="connsiteY2" fmla="*/ 314326 h 338138"/>
              <a:gd name="connsiteX3" fmla="*/ 177331 w 290884"/>
              <a:gd name="connsiteY3" fmla="*/ 261816 h 338138"/>
              <a:gd name="connsiteX4" fmla="*/ 144647 w 290884"/>
              <a:gd name="connsiteY4" fmla="*/ 246063 h 338138"/>
              <a:gd name="connsiteX5" fmla="*/ 186856 w 290884"/>
              <a:gd name="connsiteY5" fmla="*/ 222250 h 338138"/>
              <a:gd name="connsiteX6" fmla="*/ 181776 w 290884"/>
              <a:gd name="connsiteY6" fmla="*/ 224790 h 338138"/>
              <a:gd name="connsiteX7" fmla="*/ 167806 w 290884"/>
              <a:gd name="connsiteY7" fmla="*/ 233680 h 338138"/>
              <a:gd name="connsiteX8" fmla="*/ 183046 w 290884"/>
              <a:gd name="connsiteY8" fmla="*/ 241300 h 338138"/>
              <a:gd name="connsiteX9" fmla="*/ 186856 w 290884"/>
              <a:gd name="connsiteY9" fmla="*/ 222250 h 338138"/>
              <a:gd name="connsiteX10" fmla="*/ 102719 w 290884"/>
              <a:gd name="connsiteY10" fmla="*/ 222250 h 338138"/>
              <a:gd name="connsiteX11" fmla="*/ 105470 w 290884"/>
              <a:gd name="connsiteY11" fmla="*/ 241300 h 338138"/>
              <a:gd name="connsiteX12" fmla="*/ 123357 w 290884"/>
              <a:gd name="connsiteY12" fmla="*/ 233680 h 338138"/>
              <a:gd name="connsiteX13" fmla="*/ 106846 w 290884"/>
              <a:gd name="connsiteY13" fmla="*/ 224790 h 338138"/>
              <a:gd name="connsiteX14" fmla="*/ 102719 w 290884"/>
              <a:gd name="connsiteY14" fmla="*/ 222250 h 338138"/>
              <a:gd name="connsiteX15" fmla="*/ 233044 w 290884"/>
              <a:gd name="connsiteY15" fmla="*/ 184150 h 338138"/>
              <a:gd name="connsiteX16" fmla="*/ 209321 w 290884"/>
              <a:gd name="connsiteY16" fmla="*/ 203710 h 338138"/>
              <a:gd name="connsiteX17" fmla="*/ 202731 w 290884"/>
              <a:gd name="connsiteY17" fmla="*/ 249351 h 338138"/>
              <a:gd name="connsiteX18" fmla="*/ 246223 w 290884"/>
              <a:gd name="connsiteY18" fmla="*/ 257175 h 338138"/>
              <a:gd name="connsiteX19" fmla="*/ 265992 w 290884"/>
              <a:gd name="connsiteY19" fmla="*/ 250655 h 338138"/>
              <a:gd name="connsiteX20" fmla="*/ 233044 w 290884"/>
              <a:gd name="connsiteY20" fmla="*/ 184150 h 338138"/>
              <a:gd name="connsiteX21" fmla="*/ 56261 w 290884"/>
              <a:gd name="connsiteY21" fmla="*/ 184150 h 338138"/>
              <a:gd name="connsiteX22" fmla="*/ 21995 w 290884"/>
              <a:gd name="connsiteY22" fmla="*/ 250655 h 338138"/>
              <a:gd name="connsiteX23" fmla="*/ 43082 w 290884"/>
              <a:gd name="connsiteY23" fmla="*/ 257175 h 338138"/>
              <a:gd name="connsiteX24" fmla="*/ 85256 w 290884"/>
              <a:gd name="connsiteY24" fmla="*/ 249351 h 338138"/>
              <a:gd name="connsiteX25" fmla="*/ 78666 w 290884"/>
              <a:gd name="connsiteY25" fmla="*/ 203710 h 338138"/>
              <a:gd name="connsiteX26" fmla="*/ 56261 w 290884"/>
              <a:gd name="connsiteY26" fmla="*/ 184150 h 338138"/>
              <a:gd name="connsiteX27" fmla="*/ 210669 w 290884"/>
              <a:gd name="connsiteY27" fmla="*/ 163513 h 338138"/>
              <a:gd name="connsiteX28" fmla="*/ 210669 w 290884"/>
              <a:gd name="connsiteY28" fmla="*/ 169070 h 338138"/>
              <a:gd name="connsiteX29" fmla="*/ 210669 w 290884"/>
              <a:gd name="connsiteY29" fmla="*/ 174626 h 338138"/>
              <a:gd name="connsiteX30" fmla="*/ 217019 w 290884"/>
              <a:gd name="connsiteY30" fmla="*/ 169070 h 338138"/>
              <a:gd name="connsiteX31" fmla="*/ 210669 w 290884"/>
              <a:gd name="connsiteY31" fmla="*/ 163513 h 338138"/>
              <a:gd name="connsiteX32" fmla="*/ 77319 w 290884"/>
              <a:gd name="connsiteY32" fmla="*/ 163513 h 338138"/>
              <a:gd name="connsiteX33" fmla="*/ 70969 w 290884"/>
              <a:gd name="connsiteY33" fmla="*/ 169070 h 338138"/>
              <a:gd name="connsiteX34" fmla="*/ 77319 w 290884"/>
              <a:gd name="connsiteY34" fmla="*/ 174626 h 338138"/>
              <a:gd name="connsiteX35" fmla="*/ 77319 w 290884"/>
              <a:gd name="connsiteY35" fmla="*/ 169070 h 338138"/>
              <a:gd name="connsiteX36" fmla="*/ 77319 w 290884"/>
              <a:gd name="connsiteY36" fmla="*/ 163513 h 338138"/>
              <a:gd name="connsiteX37" fmla="*/ 144788 w 290884"/>
              <a:gd name="connsiteY37" fmla="*/ 150813 h 338138"/>
              <a:gd name="connsiteX38" fmla="*/ 163045 w 290884"/>
              <a:gd name="connsiteY38" fmla="*/ 169070 h 338138"/>
              <a:gd name="connsiteX39" fmla="*/ 144788 w 290884"/>
              <a:gd name="connsiteY39" fmla="*/ 187327 h 338138"/>
              <a:gd name="connsiteX40" fmla="*/ 126531 w 290884"/>
              <a:gd name="connsiteY40" fmla="*/ 169070 h 338138"/>
              <a:gd name="connsiteX41" fmla="*/ 144788 w 290884"/>
              <a:gd name="connsiteY41" fmla="*/ 150813 h 338138"/>
              <a:gd name="connsiteX42" fmla="*/ 145444 w 290884"/>
              <a:gd name="connsiteY42" fmla="*/ 114300 h 338138"/>
              <a:gd name="connsiteX43" fmla="*/ 119215 w 290884"/>
              <a:gd name="connsiteY43" fmla="*/ 130293 h 338138"/>
              <a:gd name="connsiteX44" fmla="*/ 100855 w 290884"/>
              <a:gd name="connsiteY44" fmla="*/ 144952 h 338138"/>
              <a:gd name="connsiteX45" fmla="*/ 99544 w 290884"/>
              <a:gd name="connsiteY45" fmla="*/ 168941 h 338138"/>
              <a:gd name="connsiteX46" fmla="*/ 100855 w 290884"/>
              <a:gd name="connsiteY46" fmla="*/ 192930 h 338138"/>
              <a:gd name="connsiteX47" fmla="*/ 119215 w 290884"/>
              <a:gd name="connsiteY47" fmla="*/ 206257 h 338138"/>
              <a:gd name="connsiteX48" fmla="*/ 145444 w 290884"/>
              <a:gd name="connsiteY48" fmla="*/ 222250 h 338138"/>
              <a:gd name="connsiteX49" fmla="*/ 170361 w 290884"/>
              <a:gd name="connsiteY49" fmla="*/ 206257 h 338138"/>
              <a:gd name="connsiteX50" fmla="*/ 190032 w 290884"/>
              <a:gd name="connsiteY50" fmla="*/ 192930 h 338138"/>
              <a:gd name="connsiteX51" fmla="*/ 190032 w 290884"/>
              <a:gd name="connsiteY51" fmla="*/ 168941 h 338138"/>
              <a:gd name="connsiteX52" fmla="*/ 190032 w 290884"/>
              <a:gd name="connsiteY52" fmla="*/ 144952 h 338138"/>
              <a:gd name="connsiteX53" fmla="*/ 170361 w 290884"/>
              <a:gd name="connsiteY53" fmla="*/ 130293 h 338138"/>
              <a:gd name="connsiteX54" fmla="*/ 145444 w 290884"/>
              <a:gd name="connsiteY54" fmla="*/ 114300 h 338138"/>
              <a:gd name="connsiteX55" fmla="*/ 183046 w 290884"/>
              <a:gd name="connsiteY55" fmla="*/ 96838 h 338138"/>
              <a:gd name="connsiteX56" fmla="*/ 167806 w 290884"/>
              <a:gd name="connsiteY56" fmla="*/ 103188 h 338138"/>
              <a:gd name="connsiteX57" fmla="*/ 181776 w 290884"/>
              <a:gd name="connsiteY57" fmla="*/ 113348 h 338138"/>
              <a:gd name="connsiteX58" fmla="*/ 186856 w 290884"/>
              <a:gd name="connsiteY58" fmla="*/ 115888 h 338138"/>
              <a:gd name="connsiteX59" fmla="*/ 183046 w 290884"/>
              <a:gd name="connsiteY59" fmla="*/ 96838 h 338138"/>
              <a:gd name="connsiteX60" fmla="*/ 105470 w 290884"/>
              <a:gd name="connsiteY60" fmla="*/ 96838 h 338138"/>
              <a:gd name="connsiteX61" fmla="*/ 102719 w 290884"/>
              <a:gd name="connsiteY61" fmla="*/ 115888 h 338138"/>
              <a:gd name="connsiteX62" fmla="*/ 106846 w 290884"/>
              <a:gd name="connsiteY62" fmla="*/ 113348 h 338138"/>
              <a:gd name="connsiteX63" fmla="*/ 123357 w 290884"/>
              <a:gd name="connsiteY63" fmla="*/ 103188 h 338138"/>
              <a:gd name="connsiteX64" fmla="*/ 105470 w 290884"/>
              <a:gd name="connsiteY64" fmla="*/ 96838 h 338138"/>
              <a:gd name="connsiteX65" fmla="*/ 246901 w 290884"/>
              <a:gd name="connsiteY65" fmla="*/ 79375 h 338138"/>
              <a:gd name="connsiteX66" fmla="*/ 202731 w 290884"/>
              <a:gd name="connsiteY66" fmla="*/ 88503 h 338138"/>
              <a:gd name="connsiteX67" fmla="*/ 209424 w 290884"/>
              <a:gd name="connsiteY67" fmla="*/ 134144 h 338138"/>
              <a:gd name="connsiteX68" fmla="*/ 233517 w 290884"/>
              <a:gd name="connsiteY68" fmla="*/ 152400 h 338138"/>
              <a:gd name="connsiteX69" fmla="*/ 250917 w 290884"/>
              <a:gd name="connsiteY69" fmla="*/ 132840 h 338138"/>
              <a:gd name="connsiteX70" fmla="*/ 266979 w 290884"/>
              <a:gd name="connsiteY70" fmla="*/ 85895 h 338138"/>
              <a:gd name="connsiteX71" fmla="*/ 246901 w 290884"/>
              <a:gd name="connsiteY71" fmla="*/ 79375 h 338138"/>
              <a:gd name="connsiteX72" fmla="*/ 43420 w 290884"/>
              <a:gd name="connsiteY72" fmla="*/ 79375 h 338138"/>
              <a:gd name="connsiteX73" fmla="*/ 22503 w 290884"/>
              <a:gd name="connsiteY73" fmla="*/ 85895 h 338138"/>
              <a:gd name="connsiteX74" fmla="*/ 38191 w 290884"/>
              <a:gd name="connsiteY74" fmla="*/ 132840 h 338138"/>
              <a:gd name="connsiteX75" fmla="*/ 56494 w 290884"/>
              <a:gd name="connsiteY75" fmla="*/ 152400 h 338138"/>
              <a:gd name="connsiteX76" fmla="*/ 78719 w 290884"/>
              <a:gd name="connsiteY76" fmla="*/ 134144 h 338138"/>
              <a:gd name="connsiteX77" fmla="*/ 85256 w 290884"/>
              <a:gd name="connsiteY77" fmla="*/ 88503 h 338138"/>
              <a:gd name="connsiteX78" fmla="*/ 43420 w 290884"/>
              <a:gd name="connsiteY78" fmla="*/ 79375 h 338138"/>
              <a:gd name="connsiteX79" fmla="*/ 144647 w 290884"/>
              <a:gd name="connsiteY79" fmla="*/ 22225 h 338138"/>
              <a:gd name="connsiteX80" fmla="*/ 110656 w 290884"/>
              <a:gd name="connsiteY80" fmla="*/ 74942 h 338138"/>
              <a:gd name="connsiteX81" fmla="*/ 144647 w 290884"/>
              <a:gd name="connsiteY81" fmla="*/ 92075 h 338138"/>
              <a:gd name="connsiteX82" fmla="*/ 177331 w 290884"/>
              <a:gd name="connsiteY82" fmla="*/ 74942 h 338138"/>
              <a:gd name="connsiteX83" fmla="*/ 144647 w 290884"/>
              <a:gd name="connsiteY83" fmla="*/ 22225 h 338138"/>
              <a:gd name="connsiteX84" fmla="*/ 145581 w 290884"/>
              <a:gd name="connsiteY84" fmla="*/ 0 h 338138"/>
              <a:gd name="connsiteX85" fmla="*/ 199637 w 290884"/>
              <a:gd name="connsiteY85" fmla="*/ 67363 h 338138"/>
              <a:gd name="connsiteX86" fmla="*/ 247101 w 290884"/>
              <a:gd name="connsiteY86" fmla="*/ 58117 h 338138"/>
              <a:gd name="connsiteX87" fmla="*/ 285335 w 290884"/>
              <a:gd name="connsiteY87" fmla="*/ 73968 h 338138"/>
              <a:gd name="connsiteX88" fmla="*/ 268195 w 290884"/>
              <a:gd name="connsiteY88" fmla="*/ 145294 h 338138"/>
              <a:gd name="connsiteX89" fmla="*/ 248419 w 290884"/>
              <a:gd name="connsiteY89" fmla="*/ 169069 h 338138"/>
              <a:gd name="connsiteX90" fmla="*/ 285335 w 290884"/>
              <a:gd name="connsiteY90" fmla="*/ 264170 h 338138"/>
              <a:gd name="connsiteX91" fmla="*/ 247101 w 290884"/>
              <a:gd name="connsiteY91" fmla="*/ 280021 h 338138"/>
              <a:gd name="connsiteX92" fmla="*/ 199637 w 290884"/>
              <a:gd name="connsiteY92" fmla="*/ 270775 h 338138"/>
              <a:gd name="connsiteX93" fmla="*/ 145581 w 290884"/>
              <a:gd name="connsiteY93" fmla="*/ 338138 h 338138"/>
              <a:gd name="connsiteX94" fmla="*/ 91525 w 290884"/>
              <a:gd name="connsiteY94" fmla="*/ 270775 h 338138"/>
              <a:gd name="connsiteX95" fmla="*/ 44061 w 290884"/>
              <a:gd name="connsiteY95" fmla="*/ 280021 h 338138"/>
              <a:gd name="connsiteX96" fmla="*/ 5827 w 290884"/>
              <a:gd name="connsiteY96" fmla="*/ 264170 h 338138"/>
              <a:gd name="connsiteX97" fmla="*/ 41425 w 290884"/>
              <a:gd name="connsiteY97" fmla="*/ 169069 h 338138"/>
              <a:gd name="connsiteX98" fmla="*/ 21648 w 290884"/>
              <a:gd name="connsiteY98" fmla="*/ 145294 h 338138"/>
              <a:gd name="connsiteX99" fmla="*/ 5827 w 290884"/>
              <a:gd name="connsiteY99" fmla="*/ 73968 h 338138"/>
              <a:gd name="connsiteX100" fmla="*/ 44061 w 290884"/>
              <a:gd name="connsiteY100" fmla="*/ 58117 h 338138"/>
              <a:gd name="connsiteX101" fmla="*/ 91525 w 290884"/>
              <a:gd name="connsiteY101" fmla="*/ 67363 h 338138"/>
              <a:gd name="connsiteX102" fmla="*/ 145581 w 290884"/>
              <a:gd name="connsiteY102" fmla="*/ 0 h 338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</a:cxnLst>
            <a:rect l="l" t="t" r="r" b="b"/>
            <a:pathLst>
              <a:path w="290884" h="338138">
                <a:moveTo>
                  <a:pt x="144647" y="246063"/>
                </a:moveTo>
                <a:cubicBezTo>
                  <a:pt x="132881" y="252627"/>
                  <a:pt x="121115" y="257878"/>
                  <a:pt x="110656" y="261816"/>
                </a:cubicBezTo>
                <a:cubicBezTo>
                  <a:pt x="119807" y="295948"/>
                  <a:pt x="132881" y="314326"/>
                  <a:pt x="144647" y="314326"/>
                </a:cubicBezTo>
                <a:cubicBezTo>
                  <a:pt x="155106" y="314326"/>
                  <a:pt x="168180" y="295948"/>
                  <a:pt x="177331" y="261816"/>
                </a:cubicBezTo>
                <a:cubicBezTo>
                  <a:pt x="166872" y="257878"/>
                  <a:pt x="155106" y="252627"/>
                  <a:pt x="144647" y="246063"/>
                </a:cubicBezTo>
                <a:close/>
                <a:moveTo>
                  <a:pt x="186856" y="222250"/>
                </a:moveTo>
                <a:cubicBezTo>
                  <a:pt x="184316" y="222250"/>
                  <a:pt x="183046" y="223520"/>
                  <a:pt x="181776" y="224790"/>
                </a:cubicBezTo>
                <a:cubicBezTo>
                  <a:pt x="176696" y="228600"/>
                  <a:pt x="171616" y="231140"/>
                  <a:pt x="167806" y="233680"/>
                </a:cubicBezTo>
                <a:cubicBezTo>
                  <a:pt x="172886" y="237490"/>
                  <a:pt x="177966" y="238760"/>
                  <a:pt x="183046" y="241300"/>
                </a:cubicBezTo>
                <a:cubicBezTo>
                  <a:pt x="184316" y="234950"/>
                  <a:pt x="185586" y="228600"/>
                  <a:pt x="186856" y="222250"/>
                </a:cubicBezTo>
                <a:close/>
                <a:moveTo>
                  <a:pt x="102719" y="222250"/>
                </a:moveTo>
                <a:cubicBezTo>
                  <a:pt x="102719" y="228600"/>
                  <a:pt x="104095" y="234950"/>
                  <a:pt x="105470" y="241300"/>
                </a:cubicBezTo>
                <a:cubicBezTo>
                  <a:pt x="110974" y="238760"/>
                  <a:pt x="117853" y="237490"/>
                  <a:pt x="123357" y="233680"/>
                </a:cubicBezTo>
                <a:cubicBezTo>
                  <a:pt x="117853" y="231140"/>
                  <a:pt x="112350" y="228600"/>
                  <a:pt x="106846" y="224790"/>
                </a:cubicBezTo>
                <a:cubicBezTo>
                  <a:pt x="105470" y="223520"/>
                  <a:pt x="104095" y="222250"/>
                  <a:pt x="102719" y="222250"/>
                </a:cubicBezTo>
                <a:close/>
                <a:moveTo>
                  <a:pt x="233044" y="184150"/>
                </a:moveTo>
                <a:cubicBezTo>
                  <a:pt x="225136" y="190670"/>
                  <a:pt x="218546" y="197190"/>
                  <a:pt x="209321" y="203710"/>
                </a:cubicBezTo>
                <a:cubicBezTo>
                  <a:pt x="208003" y="219359"/>
                  <a:pt x="206685" y="235007"/>
                  <a:pt x="202731" y="249351"/>
                </a:cubicBezTo>
                <a:cubicBezTo>
                  <a:pt x="219864" y="254567"/>
                  <a:pt x="234361" y="257175"/>
                  <a:pt x="246223" y="257175"/>
                </a:cubicBezTo>
                <a:cubicBezTo>
                  <a:pt x="251494" y="257175"/>
                  <a:pt x="262038" y="257175"/>
                  <a:pt x="265992" y="250655"/>
                </a:cubicBezTo>
                <a:cubicBezTo>
                  <a:pt x="272581" y="241527"/>
                  <a:pt x="262038" y="215446"/>
                  <a:pt x="233044" y="184150"/>
                </a:cubicBezTo>
                <a:close/>
                <a:moveTo>
                  <a:pt x="56261" y="184150"/>
                </a:moveTo>
                <a:cubicBezTo>
                  <a:pt x="25949" y="215446"/>
                  <a:pt x="15406" y="241527"/>
                  <a:pt x="21995" y="250655"/>
                </a:cubicBezTo>
                <a:cubicBezTo>
                  <a:pt x="25949" y="257175"/>
                  <a:pt x="36493" y="257175"/>
                  <a:pt x="43082" y="257175"/>
                </a:cubicBezTo>
                <a:cubicBezTo>
                  <a:pt x="54943" y="257175"/>
                  <a:pt x="69441" y="254567"/>
                  <a:pt x="85256" y="249351"/>
                </a:cubicBezTo>
                <a:cubicBezTo>
                  <a:pt x="82620" y="235007"/>
                  <a:pt x="79984" y="219359"/>
                  <a:pt x="78666" y="203710"/>
                </a:cubicBezTo>
                <a:cubicBezTo>
                  <a:pt x="70759" y="197190"/>
                  <a:pt x="62851" y="190670"/>
                  <a:pt x="56261" y="184150"/>
                </a:cubicBezTo>
                <a:close/>
                <a:moveTo>
                  <a:pt x="210669" y="163513"/>
                </a:moveTo>
                <a:cubicBezTo>
                  <a:pt x="210669" y="164902"/>
                  <a:pt x="210669" y="166291"/>
                  <a:pt x="210669" y="169070"/>
                </a:cubicBezTo>
                <a:cubicBezTo>
                  <a:pt x="210669" y="170459"/>
                  <a:pt x="210669" y="173237"/>
                  <a:pt x="210669" y="174626"/>
                </a:cubicBezTo>
                <a:cubicBezTo>
                  <a:pt x="213209" y="173237"/>
                  <a:pt x="215749" y="170459"/>
                  <a:pt x="217019" y="169070"/>
                </a:cubicBezTo>
                <a:cubicBezTo>
                  <a:pt x="215749" y="166291"/>
                  <a:pt x="213209" y="164902"/>
                  <a:pt x="210669" y="163513"/>
                </a:cubicBezTo>
                <a:close/>
                <a:moveTo>
                  <a:pt x="77319" y="163513"/>
                </a:moveTo>
                <a:cubicBezTo>
                  <a:pt x="74779" y="164902"/>
                  <a:pt x="73509" y="166291"/>
                  <a:pt x="70969" y="169070"/>
                </a:cubicBezTo>
                <a:cubicBezTo>
                  <a:pt x="73509" y="170459"/>
                  <a:pt x="74779" y="173237"/>
                  <a:pt x="77319" y="174626"/>
                </a:cubicBezTo>
                <a:cubicBezTo>
                  <a:pt x="77319" y="173237"/>
                  <a:pt x="77319" y="170459"/>
                  <a:pt x="77319" y="169070"/>
                </a:cubicBezTo>
                <a:cubicBezTo>
                  <a:pt x="77319" y="166291"/>
                  <a:pt x="77319" y="164902"/>
                  <a:pt x="77319" y="163513"/>
                </a:cubicBezTo>
                <a:close/>
                <a:moveTo>
                  <a:pt x="144788" y="150813"/>
                </a:moveTo>
                <a:cubicBezTo>
                  <a:pt x="154871" y="150813"/>
                  <a:pt x="163045" y="158987"/>
                  <a:pt x="163045" y="169070"/>
                </a:cubicBezTo>
                <a:cubicBezTo>
                  <a:pt x="163045" y="179153"/>
                  <a:pt x="154871" y="187327"/>
                  <a:pt x="144788" y="187327"/>
                </a:cubicBezTo>
                <a:cubicBezTo>
                  <a:pt x="134705" y="187327"/>
                  <a:pt x="126531" y="179153"/>
                  <a:pt x="126531" y="169070"/>
                </a:cubicBezTo>
                <a:cubicBezTo>
                  <a:pt x="126531" y="158987"/>
                  <a:pt x="134705" y="150813"/>
                  <a:pt x="144788" y="150813"/>
                </a:cubicBezTo>
                <a:close/>
                <a:moveTo>
                  <a:pt x="145444" y="114300"/>
                </a:moveTo>
                <a:cubicBezTo>
                  <a:pt x="136264" y="119631"/>
                  <a:pt x="128395" y="124962"/>
                  <a:pt x="119215" y="130293"/>
                </a:cubicBezTo>
                <a:cubicBezTo>
                  <a:pt x="112658" y="135623"/>
                  <a:pt x="106101" y="139622"/>
                  <a:pt x="100855" y="144952"/>
                </a:cubicBezTo>
                <a:cubicBezTo>
                  <a:pt x="100855" y="152949"/>
                  <a:pt x="99544" y="160945"/>
                  <a:pt x="99544" y="168941"/>
                </a:cubicBezTo>
                <a:cubicBezTo>
                  <a:pt x="99544" y="176938"/>
                  <a:pt x="100855" y="184934"/>
                  <a:pt x="100855" y="192930"/>
                </a:cubicBezTo>
                <a:cubicBezTo>
                  <a:pt x="107412" y="196928"/>
                  <a:pt x="112658" y="202259"/>
                  <a:pt x="119215" y="206257"/>
                </a:cubicBezTo>
                <a:cubicBezTo>
                  <a:pt x="128395" y="212921"/>
                  <a:pt x="136264" y="218252"/>
                  <a:pt x="145444" y="222250"/>
                </a:cubicBezTo>
                <a:cubicBezTo>
                  <a:pt x="153312" y="218252"/>
                  <a:pt x="162492" y="212921"/>
                  <a:pt x="170361" y="206257"/>
                </a:cubicBezTo>
                <a:cubicBezTo>
                  <a:pt x="176918" y="202259"/>
                  <a:pt x="183475" y="196928"/>
                  <a:pt x="190032" y="192930"/>
                </a:cubicBezTo>
                <a:cubicBezTo>
                  <a:pt x="190032" y="184934"/>
                  <a:pt x="190032" y="176938"/>
                  <a:pt x="190032" y="168941"/>
                </a:cubicBezTo>
                <a:cubicBezTo>
                  <a:pt x="190032" y="160945"/>
                  <a:pt x="190032" y="152949"/>
                  <a:pt x="190032" y="144952"/>
                </a:cubicBezTo>
                <a:cubicBezTo>
                  <a:pt x="183475" y="139622"/>
                  <a:pt x="176918" y="135623"/>
                  <a:pt x="170361" y="130293"/>
                </a:cubicBezTo>
                <a:cubicBezTo>
                  <a:pt x="162492" y="124962"/>
                  <a:pt x="153312" y="119631"/>
                  <a:pt x="145444" y="114300"/>
                </a:cubicBezTo>
                <a:close/>
                <a:moveTo>
                  <a:pt x="183046" y="96838"/>
                </a:moveTo>
                <a:cubicBezTo>
                  <a:pt x="177966" y="98108"/>
                  <a:pt x="172886" y="100648"/>
                  <a:pt x="167806" y="103188"/>
                </a:cubicBezTo>
                <a:cubicBezTo>
                  <a:pt x="171616" y="106998"/>
                  <a:pt x="176696" y="109538"/>
                  <a:pt x="181776" y="113348"/>
                </a:cubicBezTo>
                <a:cubicBezTo>
                  <a:pt x="183046" y="114618"/>
                  <a:pt x="184316" y="115888"/>
                  <a:pt x="186856" y="115888"/>
                </a:cubicBezTo>
                <a:cubicBezTo>
                  <a:pt x="185586" y="109538"/>
                  <a:pt x="184316" y="103188"/>
                  <a:pt x="183046" y="96838"/>
                </a:cubicBezTo>
                <a:close/>
                <a:moveTo>
                  <a:pt x="105470" y="96838"/>
                </a:moveTo>
                <a:cubicBezTo>
                  <a:pt x="104095" y="103188"/>
                  <a:pt x="102719" y="109538"/>
                  <a:pt x="102719" y="115888"/>
                </a:cubicBezTo>
                <a:cubicBezTo>
                  <a:pt x="104095" y="115888"/>
                  <a:pt x="105470" y="114618"/>
                  <a:pt x="106846" y="113348"/>
                </a:cubicBezTo>
                <a:cubicBezTo>
                  <a:pt x="112350" y="109538"/>
                  <a:pt x="117853" y="106998"/>
                  <a:pt x="123357" y="103188"/>
                </a:cubicBezTo>
                <a:cubicBezTo>
                  <a:pt x="117853" y="100648"/>
                  <a:pt x="110974" y="98108"/>
                  <a:pt x="105470" y="96838"/>
                </a:cubicBezTo>
                <a:close/>
                <a:moveTo>
                  <a:pt x="246901" y="79375"/>
                </a:moveTo>
                <a:cubicBezTo>
                  <a:pt x="234855" y="79375"/>
                  <a:pt x="220132" y="83287"/>
                  <a:pt x="202731" y="88503"/>
                </a:cubicBezTo>
                <a:cubicBezTo>
                  <a:pt x="206747" y="102847"/>
                  <a:pt x="208085" y="118496"/>
                  <a:pt x="209424" y="134144"/>
                </a:cubicBezTo>
                <a:cubicBezTo>
                  <a:pt x="217455" y="139360"/>
                  <a:pt x="225486" y="145880"/>
                  <a:pt x="233517" y="152400"/>
                </a:cubicBezTo>
                <a:cubicBezTo>
                  <a:pt x="240209" y="145880"/>
                  <a:pt x="245563" y="139360"/>
                  <a:pt x="250917" y="132840"/>
                </a:cubicBezTo>
                <a:cubicBezTo>
                  <a:pt x="269656" y="108063"/>
                  <a:pt x="270994" y="92415"/>
                  <a:pt x="266979" y="85895"/>
                </a:cubicBezTo>
                <a:cubicBezTo>
                  <a:pt x="262963" y="80679"/>
                  <a:pt x="252255" y="79375"/>
                  <a:pt x="246901" y="79375"/>
                </a:cubicBezTo>
                <a:close/>
                <a:moveTo>
                  <a:pt x="43420" y="79375"/>
                </a:moveTo>
                <a:cubicBezTo>
                  <a:pt x="36884" y="79375"/>
                  <a:pt x="26425" y="80679"/>
                  <a:pt x="22503" y="85895"/>
                </a:cubicBezTo>
                <a:cubicBezTo>
                  <a:pt x="18581" y="92415"/>
                  <a:pt x="21195" y="108063"/>
                  <a:pt x="38191" y="132840"/>
                </a:cubicBezTo>
                <a:cubicBezTo>
                  <a:pt x="43420" y="139360"/>
                  <a:pt x="49957" y="145880"/>
                  <a:pt x="56494" y="152400"/>
                </a:cubicBezTo>
                <a:cubicBezTo>
                  <a:pt x="63031" y="145880"/>
                  <a:pt x="70875" y="139360"/>
                  <a:pt x="78719" y="134144"/>
                </a:cubicBezTo>
                <a:cubicBezTo>
                  <a:pt x="80026" y="118496"/>
                  <a:pt x="82641" y="102847"/>
                  <a:pt x="85256" y="88503"/>
                </a:cubicBezTo>
                <a:cubicBezTo>
                  <a:pt x="69568" y="83287"/>
                  <a:pt x="55187" y="79375"/>
                  <a:pt x="43420" y="79375"/>
                </a:cubicBezTo>
                <a:close/>
                <a:moveTo>
                  <a:pt x="144647" y="22225"/>
                </a:moveTo>
                <a:cubicBezTo>
                  <a:pt x="132881" y="22225"/>
                  <a:pt x="119807" y="41994"/>
                  <a:pt x="110656" y="74942"/>
                </a:cubicBezTo>
                <a:cubicBezTo>
                  <a:pt x="121115" y="80214"/>
                  <a:pt x="132881" y="85485"/>
                  <a:pt x="144647" y="92075"/>
                </a:cubicBezTo>
                <a:cubicBezTo>
                  <a:pt x="155106" y="85485"/>
                  <a:pt x="166872" y="80214"/>
                  <a:pt x="177331" y="74942"/>
                </a:cubicBezTo>
                <a:cubicBezTo>
                  <a:pt x="168180" y="41994"/>
                  <a:pt x="155106" y="22225"/>
                  <a:pt x="144647" y="22225"/>
                </a:cubicBezTo>
                <a:close/>
                <a:moveTo>
                  <a:pt x="145581" y="0"/>
                </a:moveTo>
                <a:cubicBezTo>
                  <a:pt x="169313" y="0"/>
                  <a:pt x="187771" y="27738"/>
                  <a:pt x="199637" y="67363"/>
                </a:cubicBezTo>
                <a:cubicBezTo>
                  <a:pt x="216777" y="60759"/>
                  <a:pt x="232598" y="58117"/>
                  <a:pt x="247101" y="58117"/>
                </a:cubicBezTo>
                <a:cubicBezTo>
                  <a:pt x="269514" y="58117"/>
                  <a:pt x="280061" y="67363"/>
                  <a:pt x="285335" y="73968"/>
                </a:cubicBezTo>
                <a:cubicBezTo>
                  <a:pt x="293246" y="85855"/>
                  <a:pt x="295883" y="108310"/>
                  <a:pt x="268195" y="145294"/>
                </a:cubicBezTo>
                <a:cubicBezTo>
                  <a:pt x="262922" y="153219"/>
                  <a:pt x="256330" y="161144"/>
                  <a:pt x="248419" y="169069"/>
                </a:cubicBezTo>
                <a:cubicBezTo>
                  <a:pt x="281380" y="204732"/>
                  <a:pt x="301156" y="240395"/>
                  <a:pt x="285335" y="264170"/>
                </a:cubicBezTo>
                <a:cubicBezTo>
                  <a:pt x="280061" y="270775"/>
                  <a:pt x="269514" y="280021"/>
                  <a:pt x="247101" y="280021"/>
                </a:cubicBezTo>
                <a:cubicBezTo>
                  <a:pt x="232598" y="280021"/>
                  <a:pt x="216777" y="276058"/>
                  <a:pt x="199637" y="270775"/>
                </a:cubicBezTo>
                <a:cubicBezTo>
                  <a:pt x="187771" y="310400"/>
                  <a:pt x="169313" y="338138"/>
                  <a:pt x="145581" y="338138"/>
                </a:cubicBezTo>
                <a:cubicBezTo>
                  <a:pt x="120531" y="338138"/>
                  <a:pt x="102072" y="310400"/>
                  <a:pt x="91525" y="270775"/>
                </a:cubicBezTo>
                <a:cubicBezTo>
                  <a:pt x="73067" y="276058"/>
                  <a:pt x="57246" y="280021"/>
                  <a:pt x="44061" y="280021"/>
                </a:cubicBezTo>
                <a:cubicBezTo>
                  <a:pt x="21648" y="280021"/>
                  <a:pt x="9782" y="270775"/>
                  <a:pt x="5827" y="264170"/>
                </a:cubicBezTo>
                <a:cubicBezTo>
                  <a:pt x="-9994" y="240395"/>
                  <a:pt x="8464" y="204732"/>
                  <a:pt x="41425" y="169069"/>
                </a:cubicBezTo>
                <a:cubicBezTo>
                  <a:pt x="33514" y="161144"/>
                  <a:pt x="26922" y="153219"/>
                  <a:pt x="21648" y="145294"/>
                </a:cubicBezTo>
                <a:cubicBezTo>
                  <a:pt x="-6039" y="108310"/>
                  <a:pt x="-2084" y="85855"/>
                  <a:pt x="5827" y="73968"/>
                </a:cubicBezTo>
                <a:cubicBezTo>
                  <a:pt x="9782" y="67363"/>
                  <a:pt x="21648" y="58117"/>
                  <a:pt x="44061" y="58117"/>
                </a:cubicBezTo>
                <a:cubicBezTo>
                  <a:pt x="57246" y="58117"/>
                  <a:pt x="73067" y="60759"/>
                  <a:pt x="91525" y="67363"/>
                </a:cubicBezTo>
                <a:cubicBezTo>
                  <a:pt x="102072" y="27738"/>
                  <a:pt x="120531" y="0"/>
                  <a:pt x="14558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="ctr"/>
          <a:lstStyle/>
          <a:p>
            <a:pPr algn="ctr"/>
            <a:endParaRPr>
              <a:cs typeface="+mn-ea"/>
              <a:sym typeface="+mn-lt"/>
            </a:endParaRPr>
          </a:p>
        </p:txBody>
      </p:sp>
      <p:sp>
        <p:nvSpPr>
          <p:cNvPr id="30" name="椭圆 29"/>
          <p:cNvSpPr/>
          <p:nvPr/>
        </p:nvSpPr>
        <p:spPr bwMode="auto">
          <a:xfrm>
            <a:off x="692430" y="2560445"/>
            <a:ext cx="360000" cy="360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2"/>
            </a:solidFill>
            <a:round/>
          </a:ln>
        </p:spPr>
        <p:txBody>
          <a:bodyPr anchor="ctr"/>
          <a:lstStyle/>
          <a:p>
            <a:pPr algn="ctr"/>
            <a:endParaRPr>
              <a:cs typeface="+mn-ea"/>
              <a:sym typeface="+mn-lt"/>
            </a:endParaRPr>
          </a:p>
        </p:txBody>
      </p:sp>
      <p:sp>
        <p:nvSpPr>
          <p:cNvPr id="31" name="任意多边形: 形状 25"/>
          <p:cNvSpPr>
            <a:spLocks noChangeAspect="1"/>
          </p:cNvSpPr>
          <p:nvPr/>
        </p:nvSpPr>
        <p:spPr bwMode="auto">
          <a:xfrm>
            <a:off x="729213" y="2596445"/>
            <a:ext cx="289359" cy="288000"/>
          </a:xfrm>
          <a:custGeom>
            <a:avLst/>
            <a:gdLst>
              <a:gd name="connsiteX0" fmla="*/ 241300 w 338138"/>
              <a:gd name="connsiteY0" fmla="*/ 103187 h 336550"/>
              <a:gd name="connsiteX1" fmla="*/ 152400 w 338138"/>
              <a:gd name="connsiteY1" fmla="*/ 193675 h 336550"/>
              <a:gd name="connsiteX2" fmla="*/ 96837 w 338138"/>
              <a:gd name="connsiteY2" fmla="*/ 136525 h 336550"/>
              <a:gd name="connsiteX3" fmla="*/ 77787 w 338138"/>
              <a:gd name="connsiteY3" fmla="*/ 157162 h 336550"/>
              <a:gd name="connsiteX4" fmla="*/ 152400 w 338138"/>
              <a:gd name="connsiteY4" fmla="*/ 233362 h 336550"/>
              <a:gd name="connsiteX5" fmla="*/ 261937 w 338138"/>
              <a:gd name="connsiteY5" fmla="*/ 123825 h 336550"/>
              <a:gd name="connsiteX6" fmla="*/ 241301 w 338138"/>
              <a:gd name="connsiteY6" fmla="*/ 77787 h 336550"/>
              <a:gd name="connsiteX7" fmla="*/ 287338 w 338138"/>
              <a:gd name="connsiteY7" fmla="*/ 123825 h 336550"/>
              <a:gd name="connsiteX8" fmla="*/ 152400 w 338138"/>
              <a:gd name="connsiteY8" fmla="*/ 258762 h 336550"/>
              <a:gd name="connsiteX9" fmla="*/ 50800 w 338138"/>
              <a:gd name="connsiteY9" fmla="*/ 157162 h 336550"/>
              <a:gd name="connsiteX10" fmla="*/ 96838 w 338138"/>
              <a:gd name="connsiteY10" fmla="*/ 111125 h 336550"/>
              <a:gd name="connsiteX11" fmla="*/ 152400 w 338138"/>
              <a:gd name="connsiteY11" fmla="*/ 165100 h 336550"/>
              <a:gd name="connsiteX12" fmla="*/ 169069 w 338138"/>
              <a:gd name="connsiteY12" fmla="*/ 19050 h 336550"/>
              <a:gd name="connsiteX13" fmla="*/ 19050 w 338138"/>
              <a:gd name="connsiteY13" fmla="*/ 169069 h 336550"/>
              <a:gd name="connsiteX14" fmla="*/ 169069 w 338138"/>
              <a:gd name="connsiteY14" fmla="*/ 319088 h 336550"/>
              <a:gd name="connsiteX15" fmla="*/ 319088 w 338138"/>
              <a:gd name="connsiteY15" fmla="*/ 169069 h 336550"/>
              <a:gd name="connsiteX16" fmla="*/ 169069 w 338138"/>
              <a:gd name="connsiteY16" fmla="*/ 19050 h 336550"/>
              <a:gd name="connsiteX17" fmla="*/ 169069 w 338138"/>
              <a:gd name="connsiteY17" fmla="*/ 0 h 336550"/>
              <a:gd name="connsiteX18" fmla="*/ 338138 w 338138"/>
              <a:gd name="connsiteY18" fmla="*/ 168275 h 336550"/>
              <a:gd name="connsiteX19" fmla="*/ 169069 w 338138"/>
              <a:gd name="connsiteY19" fmla="*/ 336550 h 336550"/>
              <a:gd name="connsiteX20" fmla="*/ 0 w 338138"/>
              <a:gd name="connsiteY20" fmla="*/ 168275 h 336550"/>
              <a:gd name="connsiteX21" fmla="*/ 169069 w 338138"/>
              <a:gd name="connsiteY21" fmla="*/ 0 h 336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338138" h="336550">
                <a:moveTo>
                  <a:pt x="241300" y="103187"/>
                </a:moveTo>
                <a:lnTo>
                  <a:pt x="152400" y="193675"/>
                </a:lnTo>
                <a:lnTo>
                  <a:pt x="96837" y="136525"/>
                </a:lnTo>
                <a:lnTo>
                  <a:pt x="77787" y="157162"/>
                </a:lnTo>
                <a:lnTo>
                  <a:pt x="152400" y="233362"/>
                </a:lnTo>
                <a:lnTo>
                  <a:pt x="261937" y="123825"/>
                </a:lnTo>
                <a:close/>
                <a:moveTo>
                  <a:pt x="241301" y="77787"/>
                </a:moveTo>
                <a:lnTo>
                  <a:pt x="287338" y="123825"/>
                </a:lnTo>
                <a:lnTo>
                  <a:pt x="152400" y="258762"/>
                </a:lnTo>
                <a:lnTo>
                  <a:pt x="50800" y="157162"/>
                </a:lnTo>
                <a:lnTo>
                  <a:pt x="96838" y="111125"/>
                </a:lnTo>
                <a:lnTo>
                  <a:pt x="152400" y="165100"/>
                </a:lnTo>
                <a:close/>
                <a:moveTo>
                  <a:pt x="169069" y="19050"/>
                </a:moveTo>
                <a:cubicBezTo>
                  <a:pt x="86216" y="19050"/>
                  <a:pt x="19050" y="86216"/>
                  <a:pt x="19050" y="169069"/>
                </a:cubicBezTo>
                <a:cubicBezTo>
                  <a:pt x="19050" y="251922"/>
                  <a:pt x="86216" y="319088"/>
                  <a:pt x="169069" y="319088"/>
                </a:cubicBezTo>
                <a:cubicBezTo>
                  <a:pt x="251922" y="319088"/>
                  <a:pt x="319088" y="251922"/>
                  <a:pt x="319088" y="169069"/>
                </a:cubicBezTo>
                <a:cubicBezTo>
                  <a:pt x="319088" y="86216"/>
                  <a:pt x="251922" y="19050"/>
                  <a:pt x="169069" y="19050"/>
                </a:cubicBezTo>
                <a:close/>
                <a:moveTo>
                  <a:pt x="169069" y="0"/>
                </a:moveTo>
                <a:cubicBezTo>
                  <a:pt x="262443" y="0"/>
                  <a:pt x="338138" y="75339"/>
                  <a:pt x="338138" y="168275"/>
                </a:cubicBezTo>
                <a:cubicBezTo>
                  <a:pt x="338138" y="261211"/>
                  <a:pt x="262443" y="336550"/>
                  <a:pt x="169069" y="336550"/>
                </a:cubicBezTo>
                <a:cubicBezTo>
                  <a:pt x="75695" y="336550"/>
                  <a:pt x="0" y="261211"/>
                  <a:pt x="0" y="168275"/>
                </a:cubicBezTo>
                <a:cubicBezTo>
                  <a:pt x="0" y="75339"/>
                  <a:pt x="75695" y="0"/>
                  <a:pt x="169069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="ctr"/>
          <a:lstStyle/>
          <a:p>
            <a:pPr algn="ctr"/>
            <a:endParaRPr>
              <a:cs typeface="+mn-ea"/>
              <a:sym typeface="+mn-lt"/>
            </a:endParaRPr>
          </a:p>
        </p:txBody>
      </p:sp>
      <p:grpSp>
        <p:nvGrpSpPr>
          <p:cNvPr id="32" name="Group 31"/>
          <p:cNvGrpSpPr/>
          <p:nvPr/>
        </p:nvGrpSpPr>
        <p:grpSpPr>
          <a:xfrm>
            <a:off x="1691680" y="3131477"/>
            <a:ext cx="1967543" cy="358276"/>
            <a:chOff x="5403632" y="1989666"/>
            <a:chExt cx="2623389" cy="477701"/>
          </a:xfrm>
        </p:grpSpPr>
        <p:grpSp>
          <p:nvGrpSpPr>
            <p:cNvPr id="33" name="Group 53"/>
            <p:cNvGrpSpPr/>
            <p:nvPr/>
          </p:nvGrpSpPr>
          <p:grpSpPr>
            <a:xfrm>
              <a:off x="5403632" y="2028913"/>
              <a:ext cx="399214" cy="399214"/>
              <a:chOff x="0" y="0"/>
              <a:chExt cx="767929" cy="767929"/>
            </a:xfrm>
          </p:grpSpPr>
          <p:sp>
            <p:nvSpPr>
              <p:cNvPr id="35" name="Freeform: Shape 57"/>
              <p:cNvSpPr/>
              <p:nvPr/>
            </p:nvSpPr>
            <p:spPr>
              <a:xfrm>
                <a:off x="0" y="0"/>
                <a:ext cx="767929" cy="7679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1" name="Freeform: Shape 58"/>
              <p:cNvSpPr/>
              <p:nvPr/>
            </p:nvSpPr>
            <p:spPr>
              <a:xfrm>
                <a:off x="234638" y="227334"/>
                <a:ext cx="298653" cy="31326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004" h="21302" extrusionOk="0">
                    <a:moveTo>
                      <a:pt x="7816" y="21302"/>
                    </a:moveTo>
                    <a:cubicBezTo>
                      <a:pt x="7132" y="21302"/>
                      <a:pt x="6483" y="20993"/>
                      <a:pt x="6068" y="20461"/>
                    </a:cubicBezTo>
                    <a:lnTo>
                      <a:pt x="445" y="13277"/>
                    </a:lnTo>
                    <a:cubicBezTo>
                      <a:pt x="-287" y="12344"/>
                      <a:pt x="-97" y="11016"/>
                      <a:pt x="870" y="10308"/>
                    </a:cubicBezTo>
                    <a:cubicBezTo>
                      <a:pt x="1838" y="9597"/>
                      <a:pt x="3211" y="9785"/>
                      <a:pt x="3943" y="10719"/>
                    </a:cubicBezTo>
                    <a:lnTo>
                      <a:pt x="7643" y="15442"/>
                    </a:lnTo>
                    <a:lnTo>
                      <a:pt x="16946" y="999"/>
                    </a:lnTo>
                    <a:cubicBezTo>
                      <a:pt x="17586" y="6"/>
                      <a:pt x="18940" y="-298"/>
                      <a:pt x="19969" y="321"/>
                    </a:cubicBezTo>
                    <a:cubicBezTo>
                      <a:pt x="20997" y="939"/>
                      <a:pt x="21313" y="2248"/>
                      <a:pt x="20671" y="3243"/>
                    </a:cubicBezTo>
                    <a:lnTo>
                      <a:pt x="9680" y="20301"/>
                    </a:lnTo>
                    <a:cubicBezTo>
                      <a:pt x="9299" y="20896"/>
                      <a:pt x="8639" y="21267"/>
                      <a:pt x="7917" y="21299"/>
                    </a:cubicBezTo>
                    <a:cubicBezTo>
                      <a:pt x="7882" y="21302"/>
                      <a:pt x="7851" y="21302"/>
                      <a:pt x="7816" y="21302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  <p:sp>
          <p:nvSpPr>
            <p:cNvPr id="34" name="Rectangle 55"/>
            <p:cNvSpPr/>
            <p:nvPr/>
          </p:nvSpPr>
          <p:spPr>
            <a:xfrm>
              <a:off x="5808906" y="1989666"/>
              <a:ext cx="2218115" cy="477701"/>
            </a:xfrm>
            <a:prstGeom prst="rect">
              <a:avLst/>
            </a:prstGeom>
          </p:spPr>
          <p:txBody>
            <a:bodyPr wrap="none" lIns="144000" tIns="0" rIns="144000" bIns="0" anchor="ctr">
              <a:noAutofit/>
            </a:bodyPr>
            <a:lstStyle/>
            <a:p>
              <a:r>
                <a:rPr lang="zh-CN" altLang="en-US" b="1" dirty="0" smtClean="0">
                  <a:solidFill>
                    <a:schemeClr val="accent1"/>
                  </a:solidFill>
                  <a:cs typeface="+mn-ea"/>
                  <a:sym typeface="+mn-lt"/>
                </a:rPr>
                <a:t>进程</a:t>
              </a:r>
              <a:r>
                <a:rPr lang="zh-CN" altLang="en-US" b="1" dirty="0">
                  <a:solidFill>
                    <a:schemeClr val="accent1"/>
                  </a:solidFill>
                  <a:cs typeface="+mn-ea"/>
                  <a:sym typeface="+mn-lt"/>
                </a:rPr>
                <a:t>间</a:t>
              </a:r>
              <a:r>
                <a:rPr lang="zh-CN" altLang="en-US" b="1" dirty="0" smtClean="0">
                  <a:solidFill>
                    <a:schemeClr val="accent1"/>
                  </a:solidFill>
                  <a:cs typeface="+mn-ea"/>
                  <a:sym typeface="+mn-lt"/>
                </a:rPr>
                <a:t>通信量少</a:t>
              </a:r>
              <a:endParaRPr lang="zh-CN" altLang="en-US" b="1" dirty="0">
                <a:solidFill>
                  <a:schemeClr val="accent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3" name="Group 34"/>
          <p:cNvGrpSpPr/>
          <p:nvPr/>
        </p:nvGrpSpPr>
        <p:grpSpPr>
          <a:xfrm>
            <a:off x="4572000" y="3160912"/>
            <a:ext cx="2808312" cy="302726"/>
            <a:chOff x="5403632" y="4279235"/>
            <a:chExt cx="3744415" cy="403634"/>
          </a:xfrm>
        </p:grpSpPr>
        <p:grpSp>
          <p:nvGrpSpPr>
            <p:cNvPr id="47" name="Group 35"/>
            <p:cNvGrpSpPr/>
            <p:nvPr/>
          </p:nvGrpSpPr>
          <p:grpSpPr>
            <a:xfrm>
              <a:off x="5403632" y="4279235"/>
              <a:ext cx="399214" cy="399214"/>
              <a:chOff x="0" y="0"/>
              <a:chExt cx="767929" cy="767929"/>
            </a:xfrm>
          </p:grpSpPr>
          <p:sp>
            <p:nvSpPr>
              <p:cNvPr id="53" name="Freeform: Shape 39"/>
              <p:cNvSpPr/>
              <p:nvPr/>
            </p:nvSpPr>
            <p:spPr>
              <a:xfrm>
                <a:off x="0" y="0"/>
                <a:ext cx="767929" cy="7679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55" name="Freeform: Shape 40"/>
              <p:cNvSpPr/>
              <p:nvPr/>
            </p:nvSpPr>
            <p:spPr>
              <a:xfrm>
                <a:off x="234638" y="227334"/>
                <a:ext cx="298653" cy="31326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004" h="21302" extrusionOk="0">
                    <a:moveTo>
                      <a:pt x="7816" y="21302"/>
                    </a:moveTo>
                    <a:cubicBezTo>
                      <a:pt x="7132" y="21302"/>
                      <a:pt x="6483" y="20993"/>
                      <a:pt x="6068" y="20461"/>
                    </a:cubicBezTo>
                    <a:lnTo>
                      <a:pt x="445" y="13277"/>
                    </a:lnTo>
                    <a:cubicBezTo>
                      <a:pt x="-287" y="12344"/>
                      <a:pt x="-97" y="11016"/>
                      <a:pt x="870" y="10308"/>
                    </a:cubicBezTo>
                    <a:cubicBezTo>
                      <a:pt x="1838" y="9597"/>
                      <a:pt x="3211" y="9785"/>
                      <a:pt x="3943" y="10719"/>
                    </a:cubicBezTo>
                    <a:lnTo>
                      <a:pt x="7643" y="15442"/>
                    </a:lnTo>
                    <a:lnTo>
                      <a:pt x="16946" y="999"/>
                    </a:lnTo>
                    <a:cubicBezTo>
                      <a:pt x="17586" y="6"/>
                      <a:pt x="18940" y="-298"/>
                      <a:pt x="19969" y="321"/>
                    </a:cubicBezTo>
                    <a:cubicBezTo>
                      <a:pt x="20997" y="939"/>
                      <a:pt x="21313" y="2248"/>
                      <a:pt x="20671" y="3243"/>
                    </a:cubicBezTo>
                    <a:lnTo>
                      <a:pt x="9680" y="20301"/>
                    </a:lnTo>
                    <a:cubicBezTo>
                      <a:pt x="9299" y="20896"/>
                      <a:pt x="8639" y="21267"/>
                      <a:pt x="7917" y="21299"/>
                    </a:cubicBezTo>
                    <a:cubicBezTo>
                      <a:pt x="7882" y="21302"/>
                      <a:pt x="7851" y="21302"/>
                      <a:pt x="7816" y="21302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  <p:sp>
          <p:nvSpPr>
            <p:cNvPr id="49" name="Rectangle 37"/>
            <p:cNvSpPr/>
            <p:nvPr/>
          </p:nvSpPr>
          <p:spPr>
            <a:xfrm>
              <a:off x="5924825" y="4292502"/>
              <a:ext cx="3223222" cy="390367"/>
            </a:xfrm>
            <a:prstGeom prst="rect">
              <a:avLst/>
            </a:prstGeom>
          </p:spPr>
          <p:txBody>
            <a:bodyPr wrap="none" lIns="144000" tIns="0" rIns="144000" bIns="0" anchor="ctr">
              <a:noAutofit/>
            </a:bodyPr>
            <a:lstStyle/>
            <a:p>
              <a:r>
                <a:rPr lang="zh-CN" altLang="en-US" b="1" dirty="0" smtClean="0">
                  <a:solidFill>
                    <a:schemeClr val="accent4"/>
                  </a:solidFill>
                  <a:cs typeface="+mn-ea"/>
                  <a:sym typeface="+mn-lt"/>
                </a:rPr>
                <a:t>无法完全实现并行</a:t>
              </a:r>
              <a:r>
                <a:rPr lang="en-US" altLang="zh-CN" b="1" dirty="0" smtClean="0">
                  <a:solidFill>
                    <a:schemeClr val="accent4"/>
                  </a:solidFill>
                  <a:cs typeface="+mn-ea"/>
                  <a:sym typeface="+mn-lt"/>
                </a:rPr>
                <a:t>IO</a:t>
              </a:r>
              <a:endParaRPr lang="zh-CN" altLang="en-US" b="1" dirty="0">
                <a:solidFill>
                  <a:schemeClr val="accent4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9" name="Group 34"/>
          <p:cNvGrpSpPr/>
          <p:nvPr/>
        </p:nvGrpSpPr>
        <p:grpSpPr>
          <a:xfrm>
            <a:off x="4572000" y="3867894"/>
            <a:ext cx="2808312" cy="302726"/>
            <a:chOff x="5403632" y="4279235"/>
            <a:chExt cx="3744415" cy="403634"/>
          </a:xfrm>
        </p:grpSpPr>
        <p:grpSp>
          <p:nvGrpSpPr>
            <p:cNvPr id="61" name="Group 35"/>
            <p:cNvGrpSpPr/>
            <p:nvPr/>
          </p:nvGrpSpPr>
          <p:grpSpPr>
            <a:xfrm>
              <a:off x="5403632" y="4279235"/>
              <a:ext cx="399214" cy="399214"/>
              <a:chOff x="0" y="0"/>
              <a:chExt cx="767929" cy="767929"/>
            </a:xfrm>
          </p:grpSpPr>
          <p:sp>
            <p:nvSpPr>
              <p:cNvPr id="65" name="Freeform: Shape 39"/>
              <p:cNvSpPr/>
              <p:nvPr/>
            </p:nvSpPr>
            <p:spPr>
              <a:xfrm>
                <a:off x="0" y="0"/>
                <a:ext cx="767929" cy="7679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19679" h="19679" extrusionOk="0">
                    <a:moveTo>
                      <a:pt x="16796" y="2882"/>
                    </a:moveTo>
                    <a:cubicBezTo>
                      <a:pt x="20639" y="6724"/>
                      <a:pt x="20639" y="12954"/>
                      <a:pt x="16796" y="16796"/>
                    </a:cubicBezTo>
                    <a:cubicBezTo>
                      <a:pt x="12954" y="20639"/>
                      <a:pt x="6724" y="20639"/>
                      <a:pt x="2882" y="16796"/>
                    </a:cubicBezTo>
                    <a:cubicBezTo>
                      <a:pt x="-961" y="12954"/>
                      <a:pt x="-961" y="6724"/>
                      <a:pt x="2882" y="2882"/>
                    </a:cubicBezTo>
                    <a:cubicBezTo>
                      <a:pt x="6724" y="-961"/>
                      <a:pt x="12954" y="-961"/>
                      <a:pt x="16796" y="2882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66" name="Freeform: Shape 40"/>
              <p:cNvSpPr/>
              <p:nvPr/>
            </p:nvSpPr>
            <p:spPr>
              <a:xfrm>
                <a:off x="234638" y="227334"/>
                <a:ext cx="298653" cy="31326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004" h="21302" extrusionOk="0">
                    <a:moveTo>
                      <a:pt x="7816" y="21302"/>
                    </a:moveTo>
                    <a:cubicBezTo>
                      <a:pt x="7132" y="21302"/>
                      <a:pt x="6483" y="20993"/>
                      <a:pt x="6068" y="20461"/>
                    </a:cubicBezTo>
                    <a:lnTo>
                      <a:pt x="445" y="13277"/>
                    </a:lnTo>
                    <a:cubicBezTo>
                      <a:pt x="-287" y="12344"/>
                      <a:pt x="-97" y="11016"/>
                      <a:pt x="870" y="10308"/>
                    </a:cubicBezTo>
                    <a:cubicBezTo>
                      <a:pt x="1838" y="9597"/>
                      <a:pt x="3211" y="9785"/>
                      <a:pt x="3943" y="10719"/>
                    </a:cubicBezTo>
                    <a:lnTo>
                      <a:pt x="7643" y="15442"/>
                    </a:lnTo>
                    <a:lnTo>
                      <a:pt x="16946" y="999"/>
                    </a:lnTo>
                    <a:cubicBezTo>
                      <a:pt x="17586" y="6"/>
                      <a:pt x="18940" y="-298"/>
                      <a:pt x="19969" y="321"/>
                    </a:cubicBezTo>
                    <a:cubicBezTo>
                      <a:pt x="20997" y="939"/>
                      <a:pt x="21313" y="2248"/>
                      <a:pt x="20671" y="3243"/>
                    </a:cubicBezTo>
                    <a:lnTo>
                      <a:pt x="9680" y="20301"/>
                    </a:lnTo>
                    <a:cubicBezTo>
                      <a:pt x="9299" y="20896"/>
                      <a:pt x="8639" y="21267"/>
                      <a:pt x="7917" y="21299"/>
                    </a:cubicBezTo>
                    <a:cubicBezTo>
                      <a:pt x="7882" y="21302"/>
                      <a:pt x="7851" y="21302"/>
                      <a:pt x="7816" y="21302"/>
                    </a:cubicBez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  <p:sp>
          <p:nvSpPr>
            <p:cNvPr id="64" name="Rectangle 37"/>
            <p:cNvSpPr/>
            <p:nvPr/>
          </p:nvSpPr>
          <p:spPr>
            <a:xfrm>
              <a:off x="5924825" y="4292502"/>
              <a:ext cx="3223222" cy="390367"/>
            </a:xfrm>
            <a:prstGeom prst="rect">
              <a:avLst/>
            </a:prstGeom>
          </p:spPr>
          <p:txBody>
            <a:bodyPr wrap="none" lIns="144000" tIns="0" rIns="144000" bIns="0" anchor="ctr">
              <a:noAutofit/>
            </a:bodyPr>
            <a:lstStyle/>
            <a:p>
              <a:r>
                <a:rPr lang="zh-CN" altLang="en-US" b="1" dirty="0" smtClean="0">
                  <a:solidFill>
                    <a:schemeClr val="accent4"/>
                  </a:solidFill>
                  <a:cs typeface="+mn-ea"/>
                  <a:sym typeface="+mn-lt"/>
                </a:rPr>
                <a:t>进程资源分配不均</a:t>
              </a:r>
              <a:endParaRPr lang="zh-CN" altLang="en-US" b="1" dirty="0">
                <a:solidFill>
                  <a:schemeClr val="accent4"/>
                </a:solidFill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p:transition spd="med">
    <p:push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菱形 2"/>
          <p:cNvSpPr/>
          <p:nvPr/>
        </p:nvSpPr>
        <p:spPr>
          <a:xfrm>
            <a:off x="7560945" y="1603375"/>
            <a:ext cx="1922780" cy="1793240"/>
          </a:xfrm>
          <a:prstGeom prst="diamond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 rot="18840000">
            <a:off x="4138930" y="-254000"/>
            <a:ext cx="4261485" cy="105283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 rot="18840000">
            <a:off x="5226685" y="706755"/>
            <a:ext cx="4560570" cy="109283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 rot="2640000">
            <a:off x="5226050" y="3211830"/>
            <a:ext cx="4560570" cy="105283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584877" y="3616325"/>
            <a:ext cx="1466843" cy="7683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400" b="1" spc="300" dirty="0" smtClean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谢谢</a:t>
            </a:r>
            <a:endParaRPr lang="zh-CN" altLang="en-US" sz="4400" b="1" spc="30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622342" y="3217545"/>
            <a:ext cx="1080135" cy="3581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584877" y="3197225"/>
            <a:ext cx="115443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REPORT</a:t>
            </a: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第一PPT，www.1ppt.com">
  <a:themeElements>
    <a:clrScheme name="自定义 237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0070C0"/>
      </a:accent1>
      <a:accent2>
        <a:srgbClr val="595959"/>
      </a:accent2>
      <a:accent3>
        <a:srgbClr val="0070C0"/>
      </a:accent3>
      <a:accent4>
        <a:srgbClr val="595959"/>
      </a:accent4>
      <a:accent5>
        <a:srgbClr val="0070C0"/>
      </a:accent5>
      <a:accent6>
        <a:srgbClr val="595959"/>
      </a:accent6>
      <a:hlink>
        <a:srgbClr val="0070C0"/>
      </a:hlink>
      <a:folHlink>
        <a:srgbClr val="595959"/>
      </a:folHlink>
    </a:clrScheme>
    <a:fontScheme name="temp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1200" dirty="0" smtClean="0">
            <a:solidFill>
              <a:schemeClr val="tx1">
                <a:lumMod val="75000"/>
                <a:lumOff val="25000"/>
              </a:schemeClr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自定义 237">
    <a:dk1>
      <a:srgbClr val="000000"/>
    </a:dk1>
    <a:lt1>
      <a:srgbClr val="FFFFFF"/>
    </a:lt1>
    <a:dk2>
      <a:srgbClr val="778495"/>
    </a:dk2>
    <a:lt2>
      <a:srgbClr val="F0F0F0"/>
    </a:lt2>
    <a:accent1>
      <a:srgbClr val="0070C0"/>
    </a:accent1>
    <a:accent2>
      <a:srgbClr val="595959"/>
    </a:accent2>
    <a:accent3>
      <a:srgbClr val="0070C0"/>
    </a:accent3>
    <a:accent4>
      <a:srgbClr val="595959"/>
    </a:accent4>
    <a:accent5>
      <a:srgbClr val="0070C0"/>
    </a:accent5>
    <a:accent6>
      <a:srgbClr val="595959"/>
    </a:accent6>
    <a:hlink>
      <a:srgbClr val="0070C0"/>
    </a:hlink>
    <a:folHlink>
      <a:srgbClr val="595959"/>
    </a:folHlink>
  </a:clrScheme>
</a:themeOverride>
</file>

<file path=ppt/theme/themeOverride2.xml><?xml version="1.0" encoding="utf-8"?>
<a:themeOverride xmlns:a="http://schemas.openxmlformats.org/drawingml/2006/main">
  <a:clrScheme name="自定义 237">
    <a:dk1>
      <a:srgbClr val="000000"/>
    </a:dk1>
    <a:lt1>
      <a:srgbClr val="FFFFFF"/>
    </a:lt1>
    <a:dk2>
      <a:srgbClr val="778495"/>
    </a:dk2>
    <a:lt2>
      <a:srgbClr val="F0F0F0"/>
    </a:lt2>
    <a:accent1>
      <a:srgbClr val="0070C0"/>
    </a:accent1>
    <a:accent2>
      <a:srgbClr val="595959"/>
    </a:accent2>
    <a:accent3>
      <a:srgbClr val="0070C0"/>
    </a:accent3>
    <a:accent4>
      <a:srgbClr val="595959"/>
    </a:accent4>
    <a:accent5>
      <a:srgbClr val="0070C0"/>
    </a:accent5>
    <a:accent6>
      <a:srgbClr val="595959"/>
    </a:accent6>
    <a:hlink>
      <a:srgbClr val="0070C0"/>
    </a:hlink>
    <a:folHlink>
      <a:srgbClr val="595959"/>
    </a:folHlink>
  </a:clrScheme>
</a:themeOverride>
</file>

<file path=ppt/theme/themeOverride3.xml><?xml version="1.0" encoding="utf-8"?>
<a:themeOverride xmlns:a="http://schemas.openxmlformats.org/drawingml/2006/main">
  <a:clrScheme name="自定义 237">
    <a:dk1>
      <a:srgbClr val="000000"/>
    </a:dk1>
    <a:lt1>
      <a:srgbClr val="FFFFFF"/>
    </a:lt1>
    <a:dk2>
      <a:srgbClr val="778495"/>
    </a:dk2>
    <a:lt2>
      <a:srgbClr val="F0F0F0"/>
    </a:lt2>
    <a:accent1>
      <a:srgbClr val="0070C0"/>
    </a:accent1>
    <a:accent2>
      <a:srgbClr val="595959"/>
    </a:accent2>
    <a:accent3>
      <a:srgbClr val="0070C0"/>
    </a:accent3>
    <a:accent4>
      <a:srgbClr val="595959"/>
    </a:accent4>
    <a:accent5>
      <a:srgbClr val="0070C0"/>
    </a:accent5>
    <a:accent6>
      <a:srgbClr val="595959"/>
    </a:accent6>
    <a:hlink>
      <a:srgbClr val="0070C0"/>
    </a:hlink>
    <a:folHlink>
      <a:srgbClr val="595959"/>
    </a:folHlink>
  </a:clrScheme>
</a:themeOverride>
</file>

<file path=ppt/theme/themeOverride4.xml><?xml version="1.0" encoding="utf-8"?>
<a:themeOverride xmlns:a="http://schemas.openxmlformats.org/drawingml/2006/main">
  <a:clrScheme name="自定义 237">
    <a:dk1>
      <a:srgbClr val="000000"/>
    </a:dk1>
    <a:lt1>
      <a:srgbClr val="FFFFFF"/>
    </a:lt1>
    <a:dk2>
      <a:srgbClr val="778495"/>
    </a:dk2>
    <a:lt2>
      <a:srgbClr val="F0F0F0"/>
    </a:lt2>
    <a:accent1>
      <a:srgbClr val="0070C0"/>
    </a:accent1>
    <a:accent2>
      <a:srgbClr val="595959"/>
    </a:accent2>
    <a:accent3>
      <a:srgbClr val="0070C0"/>
    </a:accent3>
    <a:accent4>
      <a:srgbClr val="595959"/>
    </a:accent4>
    <a:accent5>
      <a:srgbClr val="0070C0"/>
    </a:accent5>
    <a:accent6>
      <a:srgbClr val="595959"/>
    </a:accent6>
    <a:hlink>
      <a:srgbClr val="0070C0"/>
    </a:hlink>
    <a:folHlink>
      <a:srgbClr val="595959"/>
    </a:folHlink>
  </a:clrScheme>
</a:themeOverride>
</file>

<file path=ppt/theme/themeOverride5.xml><?xml version="1.0" encoding="utf-8"?>
<a:themeOverride xmlns:a="http://schemas.openxmlformats.org/drawingml/2006/main">
  <a:clrScheme name="自定义 237">
    <a:dk1>
      <a:srgbClr val="000000"/>
    </a:dk1>
    <a:lt1>
      <a:srgbClr val="FFFFFF"/>
    </a:lt1>
    <a:dk2>
      <a:srgbClr val="778495"/>
    </a:dk2>
    <a:lt2>
      <a:srgbClr val="F0F0F0"/>
    </a:lt2>
    <a:accent1>
      <a:srgbClr val="0070C0"/>
    </a:accent1>
    <a:accent2>
      <a:srgbClr val="595959"/>
    </a:accent2>
    <a:accent3>
      <a:srgbClr val="0070C0"/>
    </a:accent3>
    <a:accent4>
      <a:srgbClr val="595959"/>
    </a:accent4>
    <a:accent5>
      <a:srgbClr val="0070C0"/>
    </a:accent5>
    <a:accent6>
      <a:srgbClr val="595959"/>
    </a:accent6>
    <a:hlink>
      <a:srgbClr val="0070C0"/>
    </a:hlink>
    <a:folHlink>
      <a:srgbClr val="595959"/>
    </a:folHlink>
  </a:clrScheme>
</a:themeOverride>
</file>

<file path=ppt/theme/themeOverride6.xml><?xml version="1.0" encoding="utf-8"?>
<a:themeOverride xmlns:a="http://schemas.openxmlformats.org/drawingml/2006/main">
  <a:clrScheme name="自定义 237">
    <a:dk1>
      <a:srgbClr val="000000"/>
    </a:dk1>
    <a:lt1>
      <a:srgbClr val="FFFFFF"/>
    </a:lt1>
    <a:dk2>
      <a:srgbClr val="778495"/>
    </a:dk2>
    <a:lt2>
      <a:srgbClr val="F0F0F0"/>
    </a:lt2>
    <a:accent1>
      <a:srgbClr val="0070C0"/>
    </a:accent1>
    <a:accent2>
      <a:srgbClr val="595959"/>
    </a:accent2>
    <a:accent3>
      <a:srgbClr val="0070C0"/>
    </a:accent3>
    <a:accent4>
      <a:srgbClr val="595959"/>
    </a:accent4>
    <a:accent5>
      <a:srgbClr val="0070C0"/>
    </a:accent5>
    <a:accent6>
      <a:srgbClr val="595959"/>
    </a:accent6>
    <a:hlink>
      <a:srgbClr val="0070C0"/>
    </a:hlink>
    <a:folHlink>
      <a:srgbClr val="595959"/>
    </a:folHlink>
  </a:clrScheme>
</a:themeOverride>
</file>

<file path=ppt/theme/themeOverride7.xml><?xml version="1.0" encoding="utf-8"?>
<a:themeOverride xmlns:a="http://schemas.openxmlformats.org/drawingml/2006/main">
  <a:clrScheme name="自定义 237">
    <a:dk1>
      <a:srgbClr val="000000"/>
    </a:dk1>
    <a:lt1>
      <a:srgbClr val="FFFFFF"/>
    </a:lt1>
    <a:dk2>
      <a:srgbClr val="778495"/>
    </a:dk2>
    <a:lt2>
      <a:srgbClr val="F0F0F0"/>
    </a:lt2>
    <a:accent1>
      <a:srgbClr val="0070C0"/>
    </a:accent1>
    <a:accent2>
      <a:srgbClr val="595959"/>
    </a:accent2>
    <a:accent3>
      <a:srgbClr val="0070C0"/>
    </a:accent3>
    <a:accent4>
      <a:srgbClr val="595959"/>
    </a:accent4>
    <a:accent5>
      <a:srgbClr val="0070C0"/>
    </a:accent5>
    <a:accent6>
      <a:srgbClr val="595959"/>
    </a:accent6>
    <a:hlink>
      <a:srgbClr val="0070C0"/>
    </a:hlink>
    <a:folHlink>
      <a:srgbClr val="595959"/>
    </a:folHlink>
  </a:clrScheme>
</a:themeOverride>
</file>

<file path=ppt/theme/themeOverride8.xml><?xml version="1.0" encoding="utf-8"?>
<a:themeOverride xmlns:a="http://schemas.openxmlformats.org/drawingml/2006/main">
  <a:clrScheme name="自定义 237">
    <a:dk1>
      <a:srgbClr val="000000"/>
    </a:dk1>
    <a:lt1>
      <a:srgbClr val="FFFFFF"/>
    </a:lt1>
    <a:dk2>
      <a:srgbClr val="778495"/>
    </a:dk2>
    <a:lt2>
      <a:srgbClr val="F0F0F0"/>
    </a:lt2>
    <a:accent1>
      <a:srgbClr val="0070C0"/>
    </a:accent1>
    <a:accent2>
      <a:srgbClr val="595959"/>
    </a:accent2>
    <a:accent3>
      <a:srgbClr val="0070C0"/>
    </a:accent3>
    <a:accent4>
      <a:srgbClr val="595959"/>
    </a:accent4>
    <a:accent5>
      <a:srgbClr val="0070C0"/>
    </a:accent5>
    <a:accent6>
      <a:srgbClr val="595959"/>
    </a:accent6>
    <a:hlink>
      <a:srgbClr val="0070C0"/>
    </a:hlink>
    <a:folHlink>
      <a:srgbClr val="595959"/>
    </a:folHlink>
  </a:clrScheme>
</a:themeOverride>
</file>

<file path=ppt/theme/themeOverride9.xml><?xml version="1.0" encoding="utf-8"?>
<a:themeOverride xmlns:a="http://schemas.openxmlformats.org/drawingml/2006/main">
  <a:clrScheme name="自定义 237">
    <a:dk1>
      <a:srgbClr val="000000"/>
    </a:dk1>
    <a:lt1>
      <a:srgbClr val="FFFFFF"/>
    </a:lt1>
    <a:dk2>
      <a:srgbClr val="778495"/>
    </a:dk2>
    <a:lt2>
      <a:srgbClr val="F0F0F0"/>
    </a:lt2>
    <a:accent1>
      <a:srgbClr val="0070C0"/>
    </a:accent1>
    <a:accent2>
      <a:srgbClr val="595959"/>
    </a:accent2>
    <a:accent3>
      <a:srgbClr val="0070C0"/>
    </a:accent3>
    <a:accent4>
      <a:srgbClr val="595959"/>
    </a:accent4>
    <a:accent5>
      <a:srgbClr val="0070C0"/>
    </a:accent5>
    <a:accent6>
      <a:srgbClr val="595959"/>
    </a:accent6>
    <a:hlink>
      <a:srgbClr val="0070C0"/>
    </a:hlink>
    <a:folHlink>
      <a:srgbClr val="595959"/>
    </a:folHlink>
  </a:clrScheme>
</a:themeOverride>
</file>

<file path=ppt/theme/themeOverride10.xml><?xml version="1.0" encoding="utf-8"?>
<a:themeOverride xmlns:a="http://schemas.openxmlformats.org/drawingml/2006/main">
  <a:clrScheme name="自定义 237">
    <a:dk1>
      <a:srgbClr val="000000"/>
    </a:dk1>
    <a:lt1>
      <a:srgbClr val="FFFFFF"/>
    </a:lt1>
    <a:dk2>
      <a:srgbClr val="778495"/>
    </a:dk2>
    <a:lt2>
      <a:srgbClr val="F0F0F0"/>
    </a:lt2>
    <a:accent1>
      <a:srgbClr val="0070C0"/>
    </a:accent1>
    <a:accent2>
      <a:srgbClr val="595959"/>
    </a:accent2>
    <a:accent3>
      <a:srgbClr val="0070C0"/>
    </a:accent3>
    <a:accent4>
      <a:srgbClr val="595959"/>
    </a:accent4>
    <a:accent5>
      <a:srgbClr val="0070C0"/>
    </a:accent5>
    <a:accent6>
      <a:srgbClr val="595959"/>
    </a:accent6>
    <a:hlink>
      <a:srgbClr val="0070C0"/>
    </a:hlink>
    <a:folHlink>
      <a:srgbClr val="595959"/>
    </a:folHlink>
  </a:clrScheme>
</a:themeOverride>
</file>

<file path=ppt/theme/themeOverride11.xml><?xml version="1.0" encoding="utf-8"?>
<a:themeOverride xmlns:a="http://schemas.openxmlformats.org/drawingml/2006/main">
  <a:clrScheme name="自定义 237">
    <a:dk1>
      <a:srgbClr val="000000"/>
    </a:dk1>
    <a:lt1>
      <a:srgbClr val="FFFFFF"/>
    </a:lt1>
    <a:dk2>
      <a:srgbClr val="778495"/>
    </a:dk2>
    <a:lt2>
      <a:srgbClr val="F0F0F0"/>
    </a:lt2>
    <a:accent1>
      <a:srgbClr val="0070C0"/>
    </a:accent1>
    <a:accent2>
      <a:srgbClr val="595959"/>
    </a:accent2>
    <a:accent3>
      <a:srgbClr val="0070C0"/>
    </a:accent3>
    <a:accent4>
      <a:srgbClr val="595959"/>
    </a:accent4>
    <a:accent5>
      <a:srgbClr val="0070C0"/>
    </a:accent5>
    <a:accent6>
      <a:srgbClr val="595959"/>
    </a:accent6>
    <a:hlink>
      <a:srgbClr val="0070C0"/>
    </a:hlink>
    <a:folHlink>
      <a:srgbClr val="595959"/>
    </a:folHlink>
  </a:clrScheme>
</a:themeOverride>
</file>

<file path=ppt/theme/themeOverride12.xml><?xml version="1.0" encoding="utf-8"?>
<a:themeOverride xmlns:a="http://schemas.openxmlformats.org/drawingml/2006/main">
  <a:clrScheme name="自定义 237">
    <a:dk1>
      <a:srgbClr val="000000"/>
    </a:dk1>
    <a:lt1>
      <a:srgbClr val="FFFFFF"/>
    </a:lt1>
    <a:dk2>
      <a:srgbClr val="778495"/>
    </a:dk2>
    <a:lt2>
      <a:srgbClr val="F0F0F0"/>
    </a:lt2>
    <a:accent1>
      <a:srgbClr val="0070C0"/>
    </a:accent1>
    <a:accent2>
      <a:srgbClr val="595959"/>
    </a:accent2>
    <a:accent3>
      <a:srgbClr val="0070C0"/>
    </a:accent3>
    <a:accent4>
      <a:srgbClr val="595959"/>
    </a:accent4>
    <a:accent5>
      <a:srgbClr val="0070C0"/>
    </a:accent5>
    <a:accent6>
      <a:srgbClr val="595959"/>
    </a:accent6>
    <a:hlink>
      <a:srgbClr val="0070C0"/>
    </a:hlink>
    <a:folHlink>
      <a:srgbClr val="595959"/>
    </a:folHlink>
  </a:clrScheme>
</a:themeOverride>
</file>

<file path=ppt/theme/themeOverride13.xml><?xml version="1.0" encoding="utf-8"?>
<a:themeOverride xmlns:a="http://schemas.openxmlformats.org/drawingml/2006/main">
  <a:clrScheme name="自定义 237">
    <a:dk1>
      <a:srgbClr val="000000"/>
    </a:dk1>
    <a:lt1>
      <a:srgbClr val="FFFFFF"/>
    </a:lt1>
    <a:dk2>
      <a:srgbClr val="778495"/>
    </a:dk2>
    <a:lt2>
      <a:srgbClr val="F0F0F0"/>
    </a:lt2>
    <a:accent1>
      <a:srgbClr val="0070C0"/>
    </a:accent1>
    <a:accent2>
      <a:srgbClr val="595959"/>
    </a:accent2>
    <a:accent3>
      <a:srgbClr val="0070C0"/>
    </a:accent3>
    <a:accent4>
      <a:srgbClr val="595959"/>
    </a:accent4>
    <a:accent5>
      <a:srgbClr val="0070C0"/>
    </a:accent5>
    <a:accent6>
      <a:srgbClr val="595959"/>
    </a:accent6>
    <a:hlink>
      <a:srgbClr val="0070C0"/>
    </a:hlink>
    <a:folHlink>
      <a:srgbClr val="595959"/>
    </a:folHlink>
  </a:clrScheme>
</a:themeOverride>
</file>

<file path=ppt/theme/themeOverride14.xml><?xml version="1.0" encoding="utf-8"?>
<a:themeOverride xmlns:a="http://schemas.openxmlformats.org/drawingml/2006/main">
  <a:clrScheme name="自定义 237">
    <a:dk1>
      <a:srgbClr val="000000"/>
    </a:dk1>
    <a:lt1>
      <a:srgbClr val="FFFFFF"/>
    </a:lt1>
    <a:dk2>
      <a:srgbClr val="778495"/>
    </a:dk2>
    <a:lt2>
      <a:srgbClr val="F0F0F0"/>
    </a:lt2>
    <a:accent1>
      <a:srgbClr val="0070C0"/>
    </a:accent1>
    <a:accent2>
      <a:srgbClr val="595959"/>
    </a:accent2>
    <a:accent3>
      <a:srgbClr val="0070C0"/>
    </a:accent3>
    <a:accent4>
      <a:srgbClr val="595959"/>
    </a:accent4>
    <a:accent5>
      <a:srgbClr val="0070C0"/>
    </a:accent5>
    <a:accent6>
      <a:srgbClr val="595959"/>
    </a:accent6>
    <a:hlink>
      <a:srgbClr val="0070C0"/>
    </a:hlink>
    <a:folHlink>
      <a:srgbClr val="595959"/>
    </a:folHlink>
  </a:clrScheme>
</a:themeOverride>
</file>

<file path=ppt/theme/themeOverride15.xml><?xml version="1.0" encoding="utf-8"?>
<a:themeOverride xmlns:a="http://schemas.openxmlformats.org/drawingml/2006/main">
  <a:clrScheme name="自定义 237">
    <a:dk1>
      <a:srgbClr val="000000"/>
    </a:dk1>
    <a:lt1>
      <a:srgbClr val="FFFFFF"/>
    </a:lt1>
    <a:dk2>
      <a:srgbClr val="778495"/>
    </a:dk2>
    <a:lt2>
      <a:srgbClr val="F0F0F0"/>
    </a:lt2>
    <a:accent1>
      <a:srgbClr val="0070C0"/>
    </a:accent1>
    <a:accent2>
      <a:srgbClr val="595959"/>
    </a:accent2>
    <a:accent3>
      <a:srgbClr val="0070C0"/>
    </a:accent3>
    <a:accent4>
      <a:srgbClr val="595959"/>
    </a:accent4>
    <a:accent5>
      <a:srgbClr val="0070C0"/>
    </a:accent5>
    <a:accent6>
      <a:srgbClr val="595959"/>
    </a:accent6>
    <a:hlink>
      <a:srgbClr val="0070C0"/>
    </a:hlink>
    <a:folHlink>
      <a:srgbClr val="595959"/>
    </a:folHlink>
  </a:clrScheme>
</a:themeOverride>
</file>

<file path=ppt/theme/themeOverride16.xml><?xml version="1.0" encoding="utf-8"?>
<a:themeOverride xmlns:a="http://schemas.openxmlformats.org/drawingml/2006/main">
  <a:clrScheme name="自定义 237">
    <a:dk1>
      <a:srgbClr val="000000"/>
    </a:dk1>
    <a:lt1>
      <a:srgbClr val="FFFFFF"/>
    </a:lt1>
    <a:dk2>
      <a:srgbClr val="778495"/>
    </a:dk2>
    <a:lt2>
      <a:srgbClr val="F0F0F0"/>
    </a:lt2>
    <a:accent1>
      <a:srgbClr val="0070C0"/>
    </a:accent1>
    <a:accent2>
      <a:srgbClr val="595959"/>
    </a:accent2>
    <a:accent3>
      <a:srgbClr val="0070C0"/>
    </a:accent3>
    <a:accent4>
      <a:srgbClr val="595959"/>
    </a:accent4>
    <a:accent5>
      <a:srgbClr val="0070C0"/>
    </a:accent5>
    <a:accent6>
      <a:srgbClr val="595959"/>
    </a:accent6>
    <a:hlink>
      <a:srgbClr val="0070C0"/>
    </a:hlink>
    <a:folHlink>
      <a:srgbClr val="595959"/>
    </a:folHlink>
  </a:clrScheme>
</a:themeOverride>
</file>

<file path=ppt/theme/themeOverride17.xml><?xml version="1.0" encoding="utf-8"?>
<a:themeOverride xmlns:a="http://schemas.openxmlformats.org/drawingml/2006/main">
  <a:clrScheme name="自定义 237">
    <a:dk1>
      <a:srgbClr val="000000"/>
    </a:dk1>
    <a:lt1>
      <a:srgbClr val="FFFFFF"/>
    </a:lt1>
    <a:dk2>
      <a:srgbClr val="778495"/>
    </a:dk2>
    <a:lt2>
      <a:srgbClr val="F0F0F0"/>
    </a:lt2>
    <a:accent1>
      <a:srgbClr val="0070C0"/>
    </a:accent1>
    <a:accent2>
      <a:srgbClr val="595959"/>
    </a:accent2>
    <a:accent3>
      <a:srgbClr val="0070C0"/>
    </a:accent3>
    <a:accent4>
      <a:srgbClr val="595959"/>
    </a:accent4>
    <a:accent5>
      <a:srgbClr val="0070C0"/>
    </a:accent5>
    <a:accent6>
      <a:srgbClr val="595959"/>
    </a:accent6>
    <a:hlink>
      <a:srgbClr val="0070C0"/>
    </a:hlink>
    <a:folHlink>
      <a:srgbClr val="595959"/>
    </a:folHlink>
  </a:clrScheme>
</a:themeOverride>
</file>

<file path=ppt/theme/themeOverride18.xml><?xml version="1.0" encoding="utf-8"?>
<a:themeOverride xmlns:a="http://schemas.openxmlformats.org/drawingml/2006/main">
  <a:clrScheme name="自定义 237">
    <a:dk1>
      <a:srgbClr val="000000"/>
    </a:dk1>
    <a:lt1>
      <a:srgbClr val="FFFFFF"/>
    </a:lt1>
    <a:dk2>
      <a:srgbClr val="778495"/>
    </a:dk2>
    <a:lt2>
      <a:srgbClr val="F0F0F0"/>
    </a:lt2>
    <a:accent1>
      <a:srgbClr val="0070C0"/>
    </a:accent1>
    <a:accent2>
      <a:srgbClr val="595959"/>
    </a:accent2>
    <a:accent3>
      <a:srgbClr val="0070C0"/>
    </a:accent3>
    <a:accent4>
      <a:srgbClr val="595959"/>
    </a:accent4>
    <a:accent5>
      <a:srgbClr val="0070C0"/>
    </a:accent5>
    <a:accent6>
      <a:srgbClr val="595959"/>
    </a:accent6>
    <a:hlink>
      <a:srgbClr val="0070C0"/>
    </a:hlink>
    <a:folHlink>
      <a:srgbClr val="595959"/>
    </a:folHlink>
  </a:clrScheme>
</a:themeOverride>
</file>

<file path=ppt/theme/themeOverride19.xml><?xml version="1.0" encoding="utf-8"?>
<a:themeOverride xmlns:a="http://schemas.openxmlformats.org/drawingml/2006/main">
  <a:clrScheme name="自定义 237">
    <a:dk1>
      <a:srgbClr val="000000"/>
    </a:dk1>
    <a:lt1>
      <a:srgbClr val="FFFFFF"/>
    </a:lt1>
    <a:dk2>
      <a:srgbClr val="778495"/>
    </a:dk2>
    <a:lt2>
      <a:srgbClr val="F0F0F0"/>
    </a:lt2>
    <a:accent1>
      <a:srgbClr val="0070C0"/>
    </a:accent1>
    <a:accent2>
      <a:srgbClr val="595959"/>
    </a:accent2>
    <a:accent3>
      <a:srgbClr val="0070C0"/>
    </a:accent3>
    <a:accent4>
      <a:srgbClr val="595959"/>
    </a:accent4>
    <a:accent5>
      <a:srgbClr val="0070C0"/>
    </a:accent5>
    <a:accent6>
      <a:srgbClr val="595959"/>
    </a:accent6>
    <a:hlink>
      <a:srgbClr val="0070C0"/>
    </a:hlink>
    <a:folHlink>
      <a:srgbClr val="595959"/>
    </a:folHlink>
  </a:clrScheme>
</a:themeOverride>
</file>

<file path=ppt/theme/themeOverride20.xml><?xml version="1.0" encoding="utf-8"?>
<a:themeOverride xmlns:a="http://schemas.openxmlformats.org/drawingml/2006/main">
  <a:clrScheme name="自定义 237">
    <a:dk1>
      <a:srgbClr val="000000"/>
    </a:dk1>
    <a:lt1>
      <a:srgbClr val="FFFFFF"/>
    </a:lt1>
    <a:dk2>
      <a:srgbClr val="778495"/>
    </a:dk2>
    <a:lt2>
      <a:srgbClr val="F0F0F0"/>
    </a:lt2>
    <a:accent1>
      <a:srgbClr val="0070C0"/>
    </a:accent1>
    <a:accent2>
      <a:srgbClr val="595959"/>
    </a:accent2>
    <a:accent3>
      <a:srgbClr val="0070C0"/>
    </a:accent3>
    <a:accent4>
      <a:srgbClr val="595959"/>
    </a:accent4>
    <a:accent5>
      <a:srgbClr val="0070C0"/>
    </a:accent5>
    <a:accent6>
      <a:srgbClr val="595959"/>
    </a:accent6>
    <a:hlink>
      <a:srgbClr val="0070C0"/>
    </a:hlink>
    <a:folHlink>
      <a:srgbClr val="595959"/>
    </a:folHlink>
  </a:clrScheme>
</a:themeOverride>
</file>

<file path=ppt/theme/themeOverride21.xml><?xml version="1.0" encoding="utf-8"?>
<a:themeOverride xmlns:a="http://schemas.openxmlformats.org/drawingml/2006/main">
  <a:clrScheme name="自定义 237">
    <a:dk1>
      <a:srgbClr val="000000"/>
    </a:dk1>
    <a:lt1>
      <a:srgbClr val="FFFFFF"/>
    </a:lt1>
    <a:dk2>
      <a:srgbClr val="778495"/>
    </a:dk2>
    <a:lt2>
      <a:srgbClr val="F0F0F0"/>
    </a:lt2>
    <a:accent1>
      <a:srgbClr val="0070C0"/>
    </a:accent1>
    <a:accent2>
      <a:srgbClr val="595959"/>
    </a:accent2>
    <a:accent3>
      <a:srgbClr val="0070C0"/>
    </a:accent3>
    <a:accent4>
      <a:srgbClr val="595959"/>
    </a:accent4>
    <a:accent5>
      <a:srgbClr val="0070C0"/>
    </a:accent5>
    <a:accent6>
      <a:srgbClr val="595959"/>
    </a:accent6>
    <a:hlink>
      <a:srgbClr val="0070C0"/>
    </a:hlink>
    <a:folHlink>
      <a:srgbClr val="595959"/>
    </a:folHlink>
  </a:clrScheme>
</a:themeOverride>
</file>

<file path=ppt/theme/themeOverride22.xml><?xml version="1.0" encoding="utf-8"?>
<a:themeOverride xmlns:a="http://schemas.openxmlformats.org/drawingml/2006/main">
  <a:clrScheme name="自定义 237">
    <a:dk1>
      <a:srgbClr val="000000"/>
    </a:dk1>
    <a:lt1>
      <a:srgbClr val="FFFFFF"/>
    </a:lt1>
    <a:dk2>
      <a:srgbClr val="778495"/>
    </a:dk2>
    <a:lt2>
      <a:srgbClr val="F0F0F0"/>
    </a:lt2>
    <a:accent1>
      <a:srgbClr val="0070C0"/>
    </a:accent1>
    <a:accent2>
      <a:srgbClr val="595959"/>
    </a:accent2>
    <a:accent3>
      <a:srgbClr val="0070C0"/>
    </a:accent3>
    <a:accent4>
      <a:srgbClr val="595959"/>
    </a:accent4>
    <a:accent5>
      <a:srgbClr val="0070C0"/>
    </a:accent5>
    <a:accent6>
      <a:srgbClr val="595959"/>
    </a:accent6>
    <a:hlink>
      <a:srgbClr val="0070C0"/>
    </a:hlink>
    <a:folHlink>
      <a:srgbClr val="595959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812</Words>
  <Application>Kingsoft Office WPP</Application>
  <PresentationFormat>全屏显示(16:9)</PresentationFormat>
  <Paragraphs>309</Paragraphs>
  <Slides>24</Slides>
  <Notes>24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25" baseType="lpstr"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简约扁平化员工培训通用PPT模板</dc:title>
  <dc:creator>user</dc:creator>
  <cp:keywords>第一PPT模板网-WWW.1PPT.COM</cp:keywords>
  <cp:lastModifiedBy>wang</cp:lastModifiedBy>
  <cp:revision>330</cp:revision>
  <dcterms:created xsi:type="dcterms:W3CDTF">2018-07-30T13:36:06Z</dcterms:created>
  <dcterms:modified xsi:type="dcterms:W3CDTF">2018-07-30T13:36:06Z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1033-10.1.0.5672</vt:lpwstr>
  </property>
</Properties>
</file>